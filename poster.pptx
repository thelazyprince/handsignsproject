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6" r:id="rId2"/>
  </p:sldIdLst>
  <p:sldSz cx="25199975" cy="359997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946C"/>
    <a:srgbClr val="A67D50"/>
    <a:srgbClr val="E2C5F1"/>
    <a:srgbClr val="BEE6F8"/>
    <a:srgbClr val="E1D2C1"/>
    <a:srgbClr val="0099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6" d="100"/>
          <a:sy n="16" d="100"/>
        </p:scale>
        <p:origin x="234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l">
              <a:defRPr sz="1200"/>
            </a:lvl1pPr>
          </a:lstStyle>
          <a:p>
            <a:endParaRPr lang="en-US"/>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r">
              <a:defRPr sz="1200"/>
            </a:lvl1pPr>
          </a:lstStyle>
          <a:p>
            <a:fld id="{C277B876-79DC-4505-AADF-F5C4F2E6155C}" type="datetimeFigureOut">
              <a:rPr lang="en-US" smtClean="0"/>
              <a:t>10/29/2024</a:t>
            </a:fld>
            <a:endParaRPr lang="en-US"/>
          </a:p>
        </p:txBody>
      </p:sp>
      <p:sp>
        <p:nvSpPr>
          <p:cNvPr id="4" name="מציין מיקום של תמונת שקופית 3"/>
          <p:cNvSpPr>
            <a:spLocks noGrp="1" noRot="1" noChangeAspect="1"/>
          </p:cNvSpPr>
          <p:nvPr>
            <p:ph type="sldImg" idx="2"/>
          </p:nvPr>
        </p:nvSpPr>
        <p:spPr>
          <a:xfrm>
            <a:off x="2349500" y="1143000"/>
            <a:ext cx="2159000" cy="3086100"/>
          </a:xfrm>
          <a:prstGeom prst="rect">
            <a:avLst/>
          </a:prstGeom>
          <a:noFill/>
          <a:ln w="12700">
            <a:solidFill>
              <a:prstClr val="black"/>
            </a:solidFill>
          </a:ln>
        </p:spPr>
        <p:txBody>
          <a:bodyPr vert="horz" lIns="91440" tIns="45720" rIns="91440" bIns="45720" rtlCol="1" anchor="ctr"/>
          <a:lstStyle/>
          <a:p>
            <a:endParaRPr lang="en-US"/>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endParaRPr lang="en-US"/>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l">
              <a:defRPr sz="1200"/>
            </a:lvl1pPr>
          </a:lstStyle>
          <a:p>
            <a:endParaRPr lang="en-US"/>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r">
              <a:defRPr sz="1200"/>
            </a:lvl1pPr>
          </a:lstStyle>
          <a:p>
            <a:fld id="{BA1F4CAE-C8DE-41ED-8C66-281A7C65E42F}" type="slidenum">
              <a:rPr lang="en-US" smtClean="0"/>
              <a:t>‹#›</a:t>
            </a:fld>
            <a:endParaRPr lang="en-US"/>
          </a:p>
        </p:txBody>
      </p:sp>
    </p:spTree>
    <p:extLst>
      <p:ext uri="{BB962C8B-B14F-4D97-AF65-F5344CB8AC3E}">
        <p14:creationId xmlns:p14="http://schemas.microsoft.com/office/powerpoint/2010/main" val="1383463258"/>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endParaRPr lang="en-US" dirty="0"/>
          </a:p>
        </p:txBody>
      </p:sp>
      <p:sp>
        <p:nvSpPr>
          <p:cNvPr id="4" name="מציין מיקום של מספר שקופית 3"/>
          <p:cNvSpPr>
            <a:spLocks noGrp="1"/>
          </p:cNvSpPr>
          <p:nvPr>
            <p:ph type="sldNum" sz="quarter" idx="5"/>
          </p:nvPr>
        </p:nvSpPr>
        <p:spPr/>
        <p:txBody>
          <a:bodyPr/>
          <a:lstStyle/>
          <a:p>
            <a:fld id="{BA1F4CAE-C8DE-41ED-8C66-281A7C65E42F}" type="slidenum">
              <a:rPr lang="en-US" smtClean="0"/>
              <a:t>1</a:t>
            </a:fld>
            <a:endParaRPr lang="en-US"/>
          </a:p>
        </p:txBody>
      </p:sp>
    </p:spTree>
    <p:extLst>
      <p:ext uri="{BB962C8B-B14F-4D97-AF65-F5344CB8AC3E}">
        <p14:creationId xmlns:p14="http://schemas.microsoft.com/office/powerpoint/2010/main" val="24546918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89998" y="5891626"/>
            <a:ext cx="21419979" cy="12533242"/>
          </a:xfrm>
        </p:spPr>
        <p:txBody>
          <a:bodyPr anchor="b"/>
          <a:lstStyle>
            <a:lvl1pPr algn="ctr">
              <a:defRPr sz="16535"/>
            </a:lvl1pPr>
          </a:lstStyle>
          <a:p>
            <a:r>
              <a:rPr lang="en-US"/>
              <a:t>Click to edit Master title style</a:t>
            </a:r>
            <a:endParaRPr lang="en-US" dirty="0"/>
          </a:p>
        </p:txBody>
      </p:sp>
      <p:sp>
        <p:nvSpPr>
          <p:cNvPr id="3" name="Subtitle 2"/>
          <p:cNvSpPr>
            <a:spLocks noGrp="1"/>
          </p:cNvSpPr>
          <p:nvPr>
            <p:ph type="subTitle" idx="1"/>
          </p:nvPr>
        </p:nvSpPr>
        <p:spPr>
          <a:xfrm>
            <a:off x="3149997" y="18908198"/>
            <a:ext cx="18899981" cy="8691601"/>
          </a:xfrm>
        </p:spPr>
        <p:txBody>
          <a:bodyPr/>
          <a:lstStyle>
            <a:lvl1pPr marL="0" indent="0" algn="ctr">
              <a:buNone/>
              <a:defRPr sz="6614"/>
            </a:lvl1pPr>
            <a:lvl2pPr marL="1259997" indent="0" algn="ctr">
              <a:buNone/>
              <a:defRPr sz="5512"/>
            </a:lvl2pPr>
            <a:lvl3pPr marL="2519995" indent="0" algn="ctr">
              <a:buNone/>
              <a:defRPr sz="4961"/>
            </a:lvl3pPr>
            <a:lvl4pPr marL="3779992" indent="0" algn="ctr">
              <a:buNone/>
              <a:defRPr sz="4409"/>
            </a:lvl4pPr>
            <a:lvl5pPr marL="5039990" indent="0" algn="ctr">
              <a:buNone/>
              <a:defRPr sz="4409"/>
            </a:lvl5pPr>
            <a:lvl6pPr marL="6299987" indent="0" algn="ctr">
              <a:buNone/>
              <a:defRPr sz="4409"/>
            </a:lvl6pPr>
            <a:lvl7pPr marL="7559985" indent="0" algn="ctr">
              <a:buNone/>
              <a:defRPr sz="4409"/>
            </a:lvl7pPr>
            <a:lvl8pPr marL="8819982" indent="0" algn="ctr">
              <a:buNone/>
              <a:defRPr sz="4409"/>
            </a:lvl8pPr>
            <a:lvl9pPr marL="10079980" indent="0" algn="ctr">
              <a:buNone/>
              <a:defRPr sz="44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6F86DA2-6F35-4111-ACB3-E2300C0C7C15}" type="datetimeFigureOut">
              <a:rPr lang="en-GB" smtClean="0"/>
              <a:t>29/10/2024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4070802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F86DA2-6F35-4111-ACB3-E2300C0C7C15}" type="datetimeFigureOut">
              <a:rPr lang="en-GB" smtClean="0"/>
              <a:t>29/10/2024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37126720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19375" y="8974945"/>
            <a:ext cx="21734978" cy="14974888"/>
          </a:xfrm>
        </p:spPr>
        <p:txBody>
          <a:bodyPr anchor="b"/>
          <a:lstStyle>
            <a:lvl1pPr>
              <a:defRPr sz="16535"/>
            </a:lvl1pPr>
          </a:lstStyle>
          <a:p>
            <a:r>
              <a:rPr lang="en-US"/>
              <a:t>Click to edit Master title style</a:t>
            </a:r>
            <a:endParaRPr lang="en-US" dirty="0"/>
          </a:p>
        </p:txBody>
      </p:sp>
      <p:sp>
        <p:nvSpPr>
          <p:cNvPr id="3" name="Text Placeholder 2"/>
          <p:cNvSpPr>
            <a:spLocks noGrp="1"/>
          </p:cNvSpPr>
          <p:nvPr>
            <p:ph type="body" idx="1"/>
          </p:nvPr>
        </p:nvSpPr>
        <p:spPr>
          <a:xfrm>
            <a:off x="1719375" y="24091502"/>
            <a:ext cx="21734978" cy="7874940"/>
          </a:xfrm>
        </p:spPr>
        <p:txBody>
          <a:bodyPr/>
          <a:lstStyle>
            <a:lvl1pPr marL="0" indent="0">
              <a:buNone/>
              <a:defRPr sz="6614">
                <a:solidFill>
                  <a:schemeClr val="tx1"/>
                </a:solidFill>
              </a:defRPr>
            </a:lvl1pPr>
            <a:lvl2pPr marL="1259997" indent="0">
              <a:buNone/>
              <a:defRPr sz="5512">
                <a:solidFill>
                  <a:schemeClr val="tx1">
                    <a:tint val="75000"/>
                  </a:schemeClr>
                </a:solidFill>
              </a:defRPr>
            </a:lvl2pPr>
            <a:lvl3pPr marL="2519995" indent="0">
              <a:buNone/>
              <a:defRPr sz="4961">
                <a:solidFill>
                  <a:schemeClr val="tx1">
                    <a:tint val="75000"/>
                  </a:schemeClr>
                </a:solidFill>
              </a:defRPr>
            </a:lvl3pPr>
            <a:lvl4pPr marL="3779992" indent="0">
              <a:buNone/>
              <a:defRPr sz="4409">
                <a:solidFill>
                  <a:schemeClr val="tx1">
                    <a:tint val="75000"/>
                  </a:schemeClr>
                </a:solidFill>
              </a:defRPr>
            </a:lvl4pPr>
            <a:lvl5pPr marL="5039990" indent="0">
              <a:buNone/>
              <a:defRPr sz="4409">
                <a:solidFill>
                  <a:schemeClr val="tx1">
                    <a:tint val="75000"/>
                  </a:schemeClr>
                </a:solidFill>
              </a:defRPr>
            </a:lvl5pPr>
            <a:lvl6pPr marL="6299987" indent="0">
              <a:buNone/>
              <a:defRPr sz="4409">
                <a:solidFill>
                  <a:schemeClr val="tx1">
                    <a:tint val="75000"/>
                  </a:schemeClr>
                </a:solidFill>
              </a:defRPr>
            </a:lvl6pPr>
            <a:lvl7pPr marL="7559985" indent="0">
              <a:buNone/>
              <a:defRPr sz="4409">
                <a:solidFill>
                  <a:schemeClr val="tx1">
                    <a:tint val="75000"/>
                  </a:schemeClr>
                </a:solidFill>
              </a:defRPr>
            </a:lvl7pPr>
            <a:lvl8pPr marL="8819982" indent="0">
              <a:buNone/>
              <a:defRPr sz="4409">
                <a:solidFill>
                  <a:schemeClr val="tx1">
                    <a:tint val="75000"/>
                  </a:schemeClr>
                </a:solidFill>
              </a:defRPr>
            </a:lvl8pPr>
            <a:lvl9pPr marL="10079980" indent="0">
              <a:buNone/>
              <a:defRPr sz="4409">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6F86DA2-6F35-4111-ACB3-E2300C0C7C15}" type="datetimeFigureOut">
              <a:rPr lang="en-GB" smtClean="0"/>
              <a:t>29/10/2024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2864097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732498" y="9583264"/>
            <a:ext cx="10709989" cy="2284150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757488" y="9583264"/>
            <a:ext cx="10709989" cy="2284150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6F86DA2-6F35-4111-ACB3-E2300C0C7C15}" type="datetimeFigureOut">
              <a:rPr lang="en-GB" smtClean="0"/>
              <a:t>29/10/2024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19638848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735781" y="1916661"/>
            <a:ext cx="21734978" cy="6958285"/>
          </a:xfrm>
        </p:spPr>
        <p:txBody>
          <a:bodyPr/>
          <a:lstStyle/>
          <a:p>
            <a:r>
              <a:rPr lang="en-US"/>
              <a:t>Click to edit Master title style</a:t>
            </a:r>
            <a:endParaRPr lang="en-US" dirty="0"/>
          </a:p>
        </p:txBody>
      </p:sp>
      <p:sp>
        <p:nvSpPr>
          <p:cNvPr id="3" name="Text Placeholder 2"/>
          <p:cNvSpPr>
            <a:spLocks noGrp="1"/>
          </p:cNvSpPr>
          <p:nvPr>
            <p:ph type="body" idx="1"/>
          </p:nvPr>
        </p:nvSpPr>
        <p:spPr>
          <a:xfrm>
            <a:off x="1735783" y="8824938"/>
            <a:ext cx="10660769"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Edit Master text styles</a:t>
            </a:r>
          </a:p>
        </p:txBody>
      </p:sp>
      <p:sp>
        <p:nvSpPr>
          <p:cNvPr id="4" name="Content Placeholder 3"/>
          <p:cNvSpPr>
            <a:spLocks noGrp="1"/>
          </p:cNvSpPr>
          <p:nvPr>
            <p:ph sz="half" idx="2"/>
          </p:nvPr>
        </p:nvSpPr>
        <p:spPr>
          <a:xfrm>
            <a:off x="1735783" y="13149904"/>
            <a:ext cx="10660769" cy="1934152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757489" y="8824938"/>
            <a:ext cx="10713272"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Edit Master text styles</a:t>
            </a:r>
          </a:p>
        </p:txBody>
      </p:sp>
      <p:sp>
        <p:nvSpPr>
          <p:cNvPr id="6" name="Content Placeholder 5"/>
          <p:cNvSpPr>
            <a:spLocks noGrp="1"/>
          </p:cNvSpPr>
          <p:nvPr>
            <p:ph sz="quarter" idx="4"/>
          </p:nvPr>
        </p:nvSpPr>
        <p:spPr>
          <a:xfrm>
            <a:off x="12757489" y="13149904"/>
            <a:ext cx="10713272" cy="1934152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6F86DA2-6F35-4111-ACB3-E2300C0C7C15}" type="datetimeFigureOut">
              <a:rPr lang="en-GB" smtClean="0"/>
              <a:t>29/10/2024</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3559586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6F86DA2-6F35-4111-ACB3-E2300C0C7C15}" type="datetimeFigureOut">
              <a:rPr lang="en-GB" smtClean="0"/>
              <a:t>29/10/2024</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1572518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F86DA2-6F35-4111-ACB3-E2300C0C7C15}" type="datetimeFigureOut">
              <a:rPr lang="en-GB" smtClean="0"/>
              <a:t>29/10/2024</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2340265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Content Placeholder 2"/>
          <p:cNvSpPr>
            <a:spLocks noGrp="1"/>
          </p:cNvSpPr>
          <p:nvPr>
            <p:ph idx="1"/>
          </p:nvPr>
        </p:nvSpPr>
        <p:spPr>
          <a:xfrm>
            <a:off x="10713272" y="5183304"/>
            <a:ext cx="12757487" cy="25583147"/>
          </a:xfrm>
        </p:spPr>
        <p:txBody>
          <a:bodyPr/>
          <a:lstStyle>
            <a:lvl1pPr>
              <a:defRPr sz="8819"/>
            </a:lvl1pPr>
            <a:lvl2pPr>
              <a:defRPr sz="7717"/>
            </a:lvl2pPr>
            <a:lvl3pPr>
              <a:defRPr sz="6614"/>
            </a:lvl3pPr>
            <a:lvl4pPr>
              <a:defRPr sz="5512"/>
            </a:lvl4pPr>
            <a:lvl5pPr>
              <a:defRPr sz="5512"/>
            </a:lvl5pPr>
            <a:lvl6pPr>
              <a:defRPr sz="5512"/>
            </a:lvl6pPr>
            <a:lvl7pPr>
              <a:defRPr sz="5512"/>
            </a:lvl7pPr>
            <a:lvl8pPr>
              <a:defRPr sz="5512"/>
            </a:lvl8pPr>
            <a:lvl9pPr>
              <a:defRPr sz="5512"/>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Edit Master text styles</a:t>
            </a:r>
          </a:p>
        </p:txBody>
      </p:sp>
      <p:sp>
        <p:nvSpPr>
          <p:cNvPr id="5" name="Date Placeholder 4"/>
          <p:cNvSpPr>
            <a:spLocks noGrp="1"/>
          </p:cNvSpPr>
          <p:nvPr>
            <p:ph type="dt" sz="half" idx="10"/>
          </p:nvPr>
        </p:nvSpPr>
        <p:spPr/>
        <p:txBody>
          <a:bodyPr/>
          <a:lstStyle/>
          <a:p>
            <a:fld id="{96F86DA2-6F35-4111-ACB3-E2300C0C7C15}" type="datetimeFigureOut">
              <a:rPr lang="en-GB" smtClean="0"/>
              <a:t>29/10/2024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1841435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Picture Placeholder 2"/>
          <p:cNvSpPr>
            <a:spLocks noGrp="1" noChangeAspect="1"/>
          </p:cNvSpPr>
          <p:nvPr>
            <p:ph type="pic" idx="1"/>
          </p:nvPr>
        </p:nvSpPr>
        <p:spPr>
          <a:xfrm>
            <a:off x="10713272" y="5183304"/>
            <a:ext cx="12757487" cy="25583147"/>
          </a:xfrm>
        </p:spPr>
        <p:txBody>
          <a:bodyPr anchor="t"/>
          <a:lstStyle>
            <a:lvl1pPr marL="0" indent="0">
              <a:buNone/>
              <a:defRPr sz="8819"/>
            </a:lvl1pPr>
            <a:lvl2pPr marL="1259997" indent="0">
              <a:buNone/>
              <a:defRPr sz="7717"/>
            </a:lvl2pPr>
            <a:lvl3pPr marL="2519995" indent="0">
              <a:buNone/>
              <a:defRPr sz="6614"/>
            </a:lvl3pPr>
            <a:lvl4pPr marL="3779992" indent="0">
              <a:buNone/>
              <a:defRPr sz="5512"/>
            </a:lvl4pPr>
            <a:lvl5pPr marL="5039990" indent="0">
              <a:buNone/>
              <a:defRPr sz="5512"/>
            </a:lvl5pPr>
            <a:lvl6pPr marL="6299987" indent="0">
              <a:buNone/>
              <a:defRPr sz="5512"/>
            </a:lvl6pPr>
            <a:lvl7pPr marL="7559985" indent="0">
              <a:buNone/>
              <a:defRPr sz="5512"/>
            </a:lvl7pPr>
            <a:lvl8pPr marL="8819982" indent="0">
              <a:buNone/>
              <a:defRPr sz="5512"/>
            </a:lvl8pPr>
            <a:lvl9pPr marL="10079980" indent="0">
              <a:buNone/>
              <a:defRPr sz="5512"/>
            </a:lvl9pPr>
          </a:lstStyle>
          <a:p>
            <a:r>
              <a:rPr lang="en-US"/>
              <a:t>Click icon to add picture</a:t>
            </a:r>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Edit Master text styles</a:t>
            </a:r>
          </a:p>
        </p:txBody>
      </p:sp>
      <p:sp>
        <p:nvSpPr>
          <p:cNvPr id="5" name="Date Placeholder 4"/>
          <p:cNvSpPr>
            <a:spLocks noGrp="1"/>
          </p:cNvSpPr>
          <p:nvPr>
            <p:ph type="dt" sz="half" idx="10"/>
          </p:nvPr>
        </p:nvSpPr>
        <p:spPr/>
        <p:txBody>
          <a:bodyPr/>
          <a:lstStyle/>
          <a:p>
            <a:fld id="{96F86DA2-6F35-4111-ACB3-E2300C0C7C15}" type="datetimeFigureOut">
              <a:rPr lang="en-GB" smtClean="0"/>
              <a:t>29/10/2024</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2154069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F86DA2-6F35-4111-ACB3-E2300C0C7C15}" type="datetimeFigureOut">
              <a:rPr lang="en-GB" smtClean="0"/>
              <a:t>29/10/2024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8401682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8033733" y="1916653"/>
            <a:ext cx="5433745" cy="3050811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732500" y="1916653"/>
            <a:ext cx="15986234" cy="3050811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F86DA2-6F35-4111-ACB3-E2300C0C7C15}" type="datetimeFigureOut">
              <a:rPr lang="en-GB" smtClean="0"/>
              <a:t>29/10/2024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8C2CB9A-9BA4-4F40-AC33-1A1DB0F02AD0}" type="slidenum">
              <a:rPr lang="en-GB" smtClean="0"/>
              <a:t>‹#›</a:t>
            </a:fld>
            <a:endParaRPr lang="en-GB"/>
          </a:p>
        </p:txBody>
      </p:sp>
    </p:spTree>
    <p:extLst>
      <p:ext uri="{BB962C8B-B14F-4D97-AF65-F5344CB8AC3E}">
        <p14:creationId xmlns:p14="http://schemas.microsoft.com/office/powerpoint/2010/main" val="9508925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32499" y="1916661"/>
            <a:ext cx="21734978" cy="695828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732499" y="9583264"/>
            <a:ext cx="21734978" cy="2284150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732498" y="33366432"/>
            <a:ext cx="5669994" cy="1916653"/>
          </a:xfrm>
          <a:prstGeom prst="rect">
            <a:avLst/>
          </a:prstGeom>
        </p:spPr>
        <p:txBody>
          <a:bodyPr vert="horz" lIns="91440" tIns="45720" rIns="91440" bIns="45720" rtlCol="0" anchor="ctr"/>
          <a:lstStyle>
            <a:lvl1pPr algn="l">
              <a:defRPr sz="3307">
                <a:solidFill>
                  <a:schemeClr val="tx1">
                    <a:tint val="75000"/>
                  </a:schemeClr>
                </a:solidFill>
              </a:defRPr>
            </a:lvl1pPr>
          </a:lstStyle>
          <a:p>
            <a:fld id="{96F86DA2-6F35-4111-ACB3-E2300C0C7C15}" type="datetimeFigureOut">
              <a:rPr lang="en-GB" smtClean="0"/>
              <a:t>29/10/2024</a:t>
            </a:fld>
            <a:endParaRPr lang="en-GB"/>
          </a:p>
        </p:txBody>
      </p:sp>
      <p:sp>
        <p:nvSpPr>
          <p:cNvPr id="5" name="Footer Placeholder 4"/>
          <p:cNvSpPr>
            <a:spLocks noGrp="1"/>
          </p:cNvSpPr>
          <p:nvPr>
            <p:ph type="ftr" sz="quarter" idx="3"/>
          </p:nvPr>
        </p:nvSpPr>
        <p:spPr>
          <a:xfrm>
            <a:off x="8347492" y="33366432"/>
            <a:ext cx="8504992" cy="1916653"/>
          </a:xfrm>
          <a:prstGeom prst="rect">
            <a:avLst/>
          </a:prstGeom>
        </p:spPr>
        <p:txBody>
          <a:bodyPr vert="horz" lIns="91440" tIns="45720" rIns="91440" bIns="45720" rtlCol="0" anchor="ctr"/>
          <a:lstStyle>
            <a:lvl1pPr algn="ctr">
              <a:defRPr sz="3307">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7797483" y="33366432"/>
            <a:ext cx="5669994" cy="1916653"/>
          </a:xfrm>
          <a:prstGeom prst="rect">
            <a:avLst/>
          </a:prstGeom>
        </p:spPr>
        <p:txBody>
          <a:bodyPr vert="horz" lIns="91440" tIns="45720" rIns="91440" bIns="45720" rtlCol="0" anchor="ctr"/>
          <a:lstStyle>
            <a:lvl1pPr algn="r">
              <a:defRPr sz="3307">
                <a:solidFill>
                  <a:schemeClr val="tx1">
                    <a:tint val="75000"/>
                  </a:schemeClr>
                </a:solidFill>
              </a:defRPr>
            </a:lvl1pPr>
          </a:lstStyle>
          <a:p>
            <a:fld id="{18C2CB9A-9BA4-4F40-AC33-1A1DB0F02AD0}" type="slidenum">
              <a:rPr lang="en-GB" smtClean="0"/>
              <a:t>‹#›</a:t>
            </a:fld>
            <a:endParaRPr lang="en-GB"/>
          </a:p>
        </p:txBody>
      </p:sp>
    </p:spTree>
    <p:extLst>
      <p:ext uri="{BB962C8B-B14F-4D97-AF65-F5344CB8AC3E}">
        <p14:creationId xmlns:p14="http://schemas.microsoft.com/office/powerpoint/2010/main" val="257280264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519995" rtl="0" eaLnBrk="1" latinLnBrk="0" hangingPunct="1">
        <a:lnSpc>
          <a:spcPct val="90000"/>
        </a:lnSpc>
        <a:spcBef>
          <a:spcPct val="0"/>
        </a:spcBef>
        <a:buNone/>
        <a:defRPr sz="12126" kern="1200">
          <a:solidFill>
            <a:schemeClr val="tx1"/>
          </a:solidFill>
          <a:latin typeface="+mj-lt"/>
          <a:ea typeface="+mj-ea"/>
          <a:cs typeface="+mj-cs"/>
        </a:defRPr>
      </a:lvl1pPr>
    </p:titleStyle>
    <p:bodyStyle>
      <a:lvl1pPr marL="629999" indent="-629999" algn="l" defTabSz="2519995" rtl="0" eaLnBrk="1" latinLnBrk="0" hangingPunct="1">
        <a:lnSpc>
          <a:spcPct val="90000"/>
        </a:lnSpc>
        <a:spcBef>
          <a:spcPts val="2756"/>
        </a:spcBef>
        <a:buFont typeface="Arial" panose="020B0604020202020204" pitchFamily="34" charset="0"/>
        <a:buChar char="•"/>
        <a:defRPr sz="7717" kern="1200">
          <a:solidFill>
            <a:schemeClr val="tx1"/>
          </a:solidFill>
          <a:latin typeface="+mn-lt"/>
          <a:ea typeface="+mn-ea"/>
          <a:cs typeface="+mn-cs"/>
        </a:defRPr>
      </a:lvl1pPr>
      <a:lvl2pPr marL="1889996" indent="-629999" algn="l" defTabSz="2519995" rtl="0" eaLnBrk="1" latinLnBrk="0" hangingPunct="1">
        <a:lnSpc>
          <a:spcPct val="90000"/>
        </a:lnSpc>
        <a:spcBef>
          <a:spcPts val="1378"/>
        </a:spcBef>
        <a:buFont typeface="Arial" panose="020B0604020202020204" pitchFamily="34" charset="0"/>
        <a:buChar char="•"/>
        <a:defRPr sz="6614" kern="1200">
          <a:solidFill>
            <a:schemeClr val="tx1"/>
          </a:solidFill>
          <a:latin typeface="+mn-lt"/>
          <a:ea typeface="+mn-ea"/>
          <a:cs typeface="+mn-cs"/>
        </a:defRPr>
      </a:lvl2pPr>
      <a:lvl3pPr marL="3149994" indent="-629999" algn="l" defTabSz="2519995" rtl="0" eaLnBrk="1" latinLnBrk="0" hangingPunct="1">
        <a:lnSpc>
          <a:spcPct val="90000"/>
        </a:lnSpc>
        <a:spcBef>
          <a:spcPts val="1378"/>
        </a:spcBef>
        <a:buFont typeface="Arial" panose="020B0604020202020204" pitchFamily="34" charset="0"/>
        <a:buChar char="•"/>
        <a:defRPr sz="5512" kern="1200">
          <a:solidFill>
            <a:schemeClr val="tx1"/>
          </a:solidFill>
          <a:latin typeface="+mn-lt"/>
          <a:ea typeface="+mn-ea"/>
          <a:cs typeface="+mn-cs"/>
        </a:defRPr>
      </a:lvl3pPr>
      <a:lvl4pPr marL="440999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4pPr>
      <a:lvl5pPr marL="566998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5pPr>
      <a:lvl6pPr marL="6929986"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6pPr>
      <a:lvl7pPr marL="8189984"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7pPr>
      <a:lvl8pPr marL="944998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8pPr>
      <a:lvl9pPr marL="1070997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9pPr>
    </p:bodyStyle>
    <p:otherStyle>
      <a:defPPr>
        <a:defRPr lang="en-US"/>
      </a:defPPr>
      <a:lvl1pPr marL="0" algn="l" defTabSz="2519995" rtl="0" eaLnBrk="1" latinLnBrk="0" hangingPunct="1">
        <a:defRPr sz="4961" kern="1200">
          <a:solidFill>
            <a:schemeClr val="tx1"/>
          </a:solidFill>
          <a:latin typeface="+mn-lt"/>
          <a:ea typeface="+mn-ea"/>
          <a:cs typeface="+mn-cs"/>
        </a:defRPr>
      </a:lvl1pPr>
      <a:lvl2pPr marL="1259997" algn="l" defTabSz="2519995" rtl="0" eaLnBrk="1" latinLnBrk="0" hangingPunct="1">
        <a:defRPr sz="4961" kern="1200">
          <a:solidFill>
            <a:schemeClr val="tx1"/>
          </a:solidFill>
          <a:latin typeface="+mn-lt"/>
          <a:ea typeface="+mn-ea"/>
          <a:cs typeface="+mn-cs"/>
        </a:defRPr>
      </a:lvl2pPr>
      <a:lvl3pPr marL="2519995" algn="l" defTabSz="2519995" rtl="0" eaLnBrk="1" latinLnBrk="0" hangingPunct="1">
        <a:defRPr sz="4961" kern="1200">
          <a:solidFill>
            <a:schemeClr val="tx1"/>
          </a:solidFill>
          <a:latin typeface="+mn-lt"/>
          <a:ea typeface="+mn-ea"/>
          <a:cs typeface="+mn-cs"/>
        </a:defRPr>
      </a:lvl3pPr>
      <a:lvl4pPr marL="3779992" algn="l" defTabSz="2519995" rtl="0" eaLnBrk="1" latinLnBrk="0" hangingPunct="1">
        <a:defRPr sz="4961" kern="1200">
          <a:solidFill>
            <a:schemeClr val="tx1"/>
          </a:solidFill>
          <a:latin typeface="+mn-lt"/>
          <a:ea typeface="+mn-ea"/>
          <a:cs typeface="+mn-cs"/>
        </a:defRPr>
      </a:lvl4pPr>
      <a:lvl5pPr marL="5039990" algn="l" defTabSz="2519995" rtl="0" eaLnBrk="1" latinLnBrk="0" hangingPunct="1">
        <a:defRPr sz="4961" kern="1200">
          <a:solidFill>
            <a:schemeClr val="tx1"/>
          </a:solidFill>
          <a:latin typeface="+mn-lt"/>
          <a:ea typeface="+mn-ea"/>
          <a:cs typeface="+mn-cs"/>
        </a:defRPr>
      </a:lvl5pPr>
      <a:lvl6pPr marL="6299987" algn="l" defTabSz="2519995" rtl="0" eaLnBrk="1" latinLnBrk="0" hangingPunct="1">
        <a:defRPr sz="4961" kern="1200">
          <a:solidFill>
            <a:schemeClr val="tx1"/>
          </a:solidFill>
          <a:latin typeface="+mn-lt"/>
          <a:ea typeface="+mn-ea"/>
          <a:cs typeface="+mn-cs"/>
        </a:defRPr>
      </a:lvl6pPr>
      <a:lvl7pPr marL="7559985" algn="l" defTabSz="2519995" rtl="0" eaLnBrk="1" latinLnBrk="0" hangingPunct="1">
        <a:defRPr sz="4961" kern="1200">
          <a:solidFill>
            <a:schemeClr val="tx1"/>
          </a:solidFill>
          <a:latin typeface="+mn-lt"/>
          <a:ea typeface="+mn-ea"/>
          <a:cs typeface="+mn-cs"/>
        </a:defRPr>
      </a:lvl7pPr>
      <a:lvl8pPr marL="8819982" algn="l" defTabSz="2519995" rtl="0" eaLnBrk="1" latinLnBrk="0" hangingPunct="1">
        <a:defRPr sz="4961" kern="1200">
          <a:solidFill>
            <a:schemeClr val="tx1"/>
          </a:solidFill>
          <a:latin typeface="+mn-lt"/>
          <a:ea typeface="+mn-ea"/>
          <a:cs typeface="+mn-cs"/>
        </a:defRPr>
      </a:lvl8pPr>
      <a:lvl9pPr marL="10079980" algn="l" defTabSz="2519995" rtl="0" eaLnBrk="1" latinLnBrk="0" hangingPunct="1">
        <a:defRPr sz="496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5E55D3C5-B04D-41A5-9B17-C157FCAEF508}"/>
              </a:ext>
            </a:extLst>
          </p:cNvPr>
          <p:cNvGraphicFramePr>
            <a:graphicFrameLocks noGrp="1"/>
          </p:cNvGraphicFramePr>
          <p:nvPr>
            <p:extLst>
              <p:ext uri="{D42A27DB-BD31-4B8C-83A1-F6EECF244321}">
                <p14:modId xmlns:p14="http://schemas.microsoft.com/office/powerpoint/2010/main" val="2790635298"/>
              </p:ext>
            </p:extLst>
          </p:nvPr>
        </p:nvGraphicFramePr>
        <p:xfrm>
          <a:off x="818147" y="665380"/>
          <a:ext cx="23509706" cy="3792093"/>
        </p:xfrm>
        <a:graphic>
          <a:graphicData uri="http://schemas.openxmlformats.org/drawingml/2006/table">
            <a:tbl>
              <a:tblPr firstRow="1" bandRow="1">
                <a:tableStyleId>{5C22544A-7EE6-4342-B048-85BDC9FD1C3A}</a:tableStyleId>
              </a:tblPr>
              <a:tblGrid>
                <a:gridCol w="5873323">
                  <a:extLst>
                    <a:ext uri="{9D8B030D-6E8A-4147-A177-3AD203B41FA5}">
                      <a16:colId xmlns:a16="http://schemas.microsoft.com/office/drawing/2014/main" val="4092810084"/>
                    </a:ext>
                  </a:extLst>
                </a:gridCol>
                <a:gridCol w="12895941">
                  <a:extLst>
                    <a:ext uri="{9D8B030D-6E8A-4147-A177-3AD203B41FA5}">
                      <a16:colId xmlns:a16="http://schemas.microsoft.com/office/drawing/2014/main" val="3944608498"/>
                    </a:ext>
                  </a:extLst>
                </a:gridCol>
                <a:gridCol w="4740442">
                  <a:extLst>
                    <a:ext uri="{9D8B030D-6E8A-4147-A177-3AD203B41FA5}">
                      <a16:colId xmlns:a16="http://schemas.microsoft.com/office/drawing/2014/main" val="3295376166"/>
                    </a:ext>
                  </a:extLst>
                </a:gridCol>
              </a:tblGrid>
              <a:tr h="1921409">
                <a:tc>
                  <a:txBody>
                    <a:bodyPr/>
                    <a:lstStyle/>
                    <a:p>
                      <a:pPr marL="0" marR="0" lvl="0" indent="0" algn="ctr" defTabSz="2519995" rtl="1" eaLnBrk="1" fontAlgn="auto" latinLnBrk="0" hangingPunct="1">
                        <a:lnSpc>
                          <a:spcPct val="100000"/>
                        </a:lnSpc>
                        <a:spcBef>
                          <a:spcPts val="0"/>
                        </a:spcBef>
                        <a:spcAft>
                          <a:spcPts val="0"/>
                        </a:spcAft>
                        <a:buClrTx/>
                        <a:buSzTx/>
                        <a:buFontTx/>
                        <a:buNone/>
                        <a:tabLst/>
                        <a:defRPr/>
                      </a:pPr>
                      <a:r>
                        <a:rPr lang="he-IL" sz="4000" dirty="0"/>
                        <a:t>הפקולטה למדעים</a:t>
                      </a:r>
                    </a:p>
                    <a:p>
                      <a:pPr marL="0" marR="0" lvl="0" indent="0" algn="ctr" defTabSz="2519995" rtl="1" eaLnBrk="1" fontAlgn="auto" latinLnBrk="0" hangingPunct="1">
                        <a:lnSpc>
                          <a:spcPct val="100000"/>
                        </a:lnSpc>
                        <a:spcBef>
                          <a:spcPts val="0"/>
                        </a:spcBef>
                        <a:spcAft>
                          <a:spcPts val="0"/>
                        </a:spcAft>
                        <a:buClrTx/>
                        <a:buSzTx/>
                        <a:buFontTx/>
                        <a:buNone/>
                        <a:tabLst/>
                        <a:defRPr/>
                      </a:pPr>
                      <a:r>
                        <a:rPr lang="he-IL" sz="4000" dirty="0"/>
                        <a:t>בית הספר למדעי המחשב</a:t>
                      </a:r>
                    </a:p>
                    <a:p>
                      <a:pPr marL="0" marR="0" lvl="0" indent="0" algn="ctr" defTabSz="2519995" rtl="1" eaLnBrk="1" fontAlgn="auto" latinLnBrk="0" hangingPunct="1">
                        <a:lnSpc>
                          <a:spcPct val="100000"/>
                        </a:lnSpc>
                        <a:spcBef>
                          <a:spcPts val="0"/>
                        </a:spcBef>
                        <a:spcAft>
                          <a:spcPts val="0"/>
                        </a:spcAft>
                        <a:buClrTx/>
                        <a:buSzTx/>
                        <a:buFontTx/>
                        <a:buNone/>
                        <a:tabLst/>
                        <a:defRPr/>
                      </a:pPr>
                      <a:r>
                        <a:rPr lang="he-IL" sz="4000" dirty="0"/>
                        <a:t>מרכז מעבדה מחשוב</a:t>
                      </a:r>
                    </a:p>
                  </a:txBody>
                  <a:tcPr anchor="ctr">
                    <a:solidFill>
                      <a:srgbClr val="B8946C"/>
                    </a:solidFill>
                  </a:tcPr>
                </a:tc>
                <a:tc rowSpan="2">
                  <a:txBody>
                    <a:bodyPr/>
                    <a:lstStyle/>
                    <a:p>
                      <a:pPr algn="ctr"/>
                      <a:r>
                        <a:rPr lang="en-US" sz="4961" b="1" i="0" kern="1200" dirty="0">
                          <a:solidFill>
                            <a:schemeClr val="lt1"/>
                          </a:solidFill>
                          <a:effectLst/>
                          <a:latin typeface="+mn-lt"/>
                          <a:ea typeface="+mn-ea"/>
                          <a:cs typeface="+mn-cs"/>
                        </a:rPr>
                        <a:t>Interactive platform for learning sign language using machine learning and computer vision technologies</a:t>
                      </a:r>
                      <a:r>
                        <a:rPr lang="en-US" sz="4961" b="0" i="0" kern="1200" dirty="0">
                          <a:solidFill>
                            <a:schemeClr val="lt1"/>
                          </a:solidFill>
                          <a:effectLst/>
                          <a:latin typeface="+mn-lt"/>
                          <a:ea typeface="+mn-ea"/>
                          <a:cs typeface="+mn-cs"/>
                        </a:rPr>
                        <a:t> </a:t>
                      </a:r>
                      <a:endParaRPr lang="he-IL" sz="4961" b="0" i="0" kern="1200" dirty="0">
                        <a:solidFill>
                          <a:schemeClr val="lt1"/>
                        </a:solidFill>
                        <a:effectLst/>
                        <a:latin typeface="+mn-lt"/>
                        <a:ea typeface="+mn-ea"/>
                        <a:cs typeface="+mn-cs"/>
                      </a:endParaRPr>
                    </a:p>
                    <a:p>
                      <a:pPr algn="ctr"/>
                      <a:r>
                        <a:rPr lang="en-US" sz="5400" dirty="0"/>
                        <a:t>Inon Reany and </a:t>
                      </a:r>
                      <a:r>
                        <a:rPr lang="en-US" sz="5400" dirty="0" err="1"/>
                        <a:t>Yafit</a:t>
                      </a:r>
                      <a:r>
                        <a:rPr lang="en-US" sz="5400" dirty="0"/>
                        <a:t> </a:t>
                      </a:r>
                      <a:r>
                        <a:rPr lang="en-US" sz="5400" dirty="0" err="1"/>
                        <a:t>Avazov</a:t>
                      </a:r>
                      <a:endParaRPr lang="he-IL" sz="5400" dirty="0"/>
                    </a:p>
                    <a:p>
                      <a:pPr algn="ctr" rtl="1"/>
                      <a:r>
                        <a:rPr lang="he-IL" sz="4000" b="1" kern="1200" dirty="0">
                          <a:solidFill>
                            <a:schemeClr val="lt1"/>
                          </a:solidFill>
                          <a:latin typeface="Arial" panose="020B0604020202020204" pitchFamily="34" charset="0"/>
                          <a:ea typeface="+mn-ea"/>
                          <a:cs typeface="Arial" panose="020B0604020202020204" pitchFamily="34" charset="0"/>
                        </a:rPr>
                        <a:t>תשפ"ד סמסטר קיץ – </a:t>
                      </a:r>
                      <a:r>
                        <a:rPr lang="en-US" sz="4000" b="1" kern="1200" dirty="0">
                          <a:solidFill>
                            <a:schemeClr val="lt1"/>
                          </a:solidFill>
                          <a:latin typeface="Arial" panose="020B0604020202020204" pitchFamily="34" charset="0"/>
                          <a:ea typeface="+mn-ea"/>
                          <a:cs typeface="Arial" panose="020B0604020202020204" pitchFamily="34" charset="0"/>
                        </a:rPr>
                        <a:t>Samer semester,2024</a:t>
                      </a:r>
                      <a:endParaRPr lang="en-GB" sz="4000" b="1" kern="1200" dirty="0">
                        <a:solidFill>
                          <a:schemeClr val="lt1"/>
                        </a:solidFill>
                        <a:latin typeface="Arial" panose="020B0604020202020204" pitchFamily="34" charset="0"/>
                        <a:ea typeface="+mn-ea"/>
                        <a:cs typeface="Arial" panose="020B0604020202020204" pitchFamily="34" charset="0"/>
                      </a:endParaRPr>
                    </a:p>
                  </a:txBody>
                  <a:tcPr anchor="ctr">
                    <a:solidFill>
                      <a:srgbClr val="B8946C"/>
                    </a:solidFill>
                  </a:tcPr>
                </a:tc>
                <a:tc rowSpan="2">
                  <a:txBody>
                    <a:bodyPr/>
                    <a:lstStyle/>
                    <a:p>
                      <a:pPr algn="ctr"/>
                      <a:endParaRPr lang="en-GB" dirty="0"/>
                    </a:p>
                  </a:txBody>
                  <a:tcPr>
                    <a:solidFill>
                      <a:srgbClr val="B8946C"/>
                    </a:solidFill>
                  </a:tcPr>
                </a:tc>
                <a:extLst>
                  <a:ext uri="{0D108BD9-81ED-4DB2-BD59-A6C34878D82A}">
                    <a16:rowId xmlns:a16="http://schemas.microsoft.com/office/drawing/2014/main" val="1622067825"/>
                  </a:ext>
                </a:extLst>
              </a:tr>
              <a:tr h="1620616">
                <a:tc>
                  <a:txBody>
                    <a:bodyPr/>
                    <a:lstStyle/>
                    <a:p>
                      <a:pPr marL="0" marR="0" lvl="0" indent="0" algn="ctr" defTabSz="2519995" rtl="0" eaLnBrk="1" fontAlgn="auto" latinLnBrk="0" hangingPunct="1">
                        <a:lnSpc>
                          <a:spcPct val="100000"/>
                        </a:lnSpc>
                        <a:spcBef>
                          <a:spcPts val="0"/>
                        </a:spcBef>
                        <a:spcAft>
                          <a:spcPts val="0"/>
                        </a:spcAft>
                        <a:buClrTx/>
                        <a:buSzTx/>
                        <a:buFontTx/>
                        <a:buNone/>
                        <a:tabLst/>
                        <a:defRPr/>
                      </a:pPr>
                      <a:r>
                        <a:rPr lang="en-GB" sz="4000" b="1" dirty="0" err="1">
                          <a:solidFill>
                            <a:schemeClr val="bg1"/>
                          </a:solidFill>
                          <a:latin typeface="Arial" panose="020B0604020202020204" pitchFamily="34" charset="0"/>
                          <a:cs typeface="Arial" panose="020B0604020202020204" pitchFamily="34" charset="0"/>
                        </a:rPr>
                        <a:t>Dr.</a:t>
                      </a:r>
                      <a:r>
                        <a:rPr lang="en-GB" sz="4000" b="1" dirty="0">
                          <a:solidFill>
                            <a:schemeClr val="bg1"/>
                          </a:solidFill>
                          <a:latin typeface="Arial" panose="020B0604020202020204" pitchFamily="34" charset="0"/>
                          <a:cs typeface="Arial" panose="020B0604020202020204" pitchFamily="34" charset="0"/>
                        </a:rPr>
                        <a:t> Yakov </a:t>
                      </a:r>
                      <a:r>
                        <a:rPr lang="en-GB" sz="4000" b="1" dirty="0" err="1">
                          <a:solidFill>
                            <a:schemeClr val="bg1"/>
                          </a:solidFill>
                          <a:latin typeface="Arial" panose="020B0604020202020204" pitchFamily="34" charset="0"/>
                          <a:cs typeface="Arial" panose="020B0604020202020204" pitchFamily="34" charset="0"/>
                        </a:rPr>
                        <a:t>Damatov</a:t>
                      </a:r>
                      <a:endParaRPr lang="en-GB" sz="4000" b="1" dirty="0">
                        <a:solidFill>
                          <a:schemeClr val="bg1"/>
                        </a:solidFill>
                        <a:latin typeface="Arial" panose="020B0604020202020204" pitchFamily="34" charset="0"/>
                        <a:cs typeface="Arial" panose="020B0604020202020204" pitchFamily="34" charset="0"/>
                      </a:endParaRPr>
                    </a:p>
                    <a:p>
                      <a:pPr marL="0" marR="0" lvl="0" indent="0" algn="ctr" defTabSz="2519995" rtl="0" eaLnBrk="1" fontAlgn="auto" latinLnBrk="0" hangingPunct="1">
                        <a:lnSpc>
                          <a:spcPct val="100000"/>
                        </a:lnSpc>
                        <a:spcBef>
                          <a:spcPts val="0"/>
                        </a:spcBef>
                        <a:spcAft>
                          <a:spcPts val="0"/>
                        </a:spcAft>
                        <a:buClrTx/>
                        <a:buSzTx/>
                        <a:buFontTx/>
                        <a:buNone/>
                        <a:tabLst/>
                        <a:defRPr/>
                      </a:pPr>
                      <a:r>
                        <a:rPr lang="en-GB" sz="4000" b="1" dirty="0" err="1">
                          <a:solidFill>
                            <a:schemeClr val="bg1"/>
                          </a:solidFill>
                          <a:latin typeface="Arial" panose="020B0604020202020204" pitchFamily="34" charset="0"/>
                          <a:cs typeface="Arial" panose="020B0604020202020204" pitchFamily="34" charset="0"/>
                        </a:rPr>
                        <a:t>Mr.Viacheslav</a:t>
                      </a:r>
                      <a:r>
                        <a:rPr lang="en-GB" sz="4000" b="1" dirty="0">
                          <a:solidFill>
                            <a:schemeClr val="bg1"/>
                          </a:solidFill>
                          <a:latin typeface="Arial" panose="020B0604020202020204" pitchFamily="34" charset="0"/>
                          <a:cs typeface="Arial" panose="020B0604020202020204" pitchFamily="34" charset="0"/>
                        </a:rPr>
                        <a:t> </a:t>
                      </a:r>
                      <a:r>
                        <a:rPr lang="en-GB" sz="4000" b="1" dirty="0" err="1">
                          <a:solidFill>
                            <a:schemeClr val="bg1"/>
                          </a:solidFill>
                          <a:latin typeface="Arial" panose="020B0604020202020204" pitchFamily="34" charset="0"/>
                          <a:cs typeface="Arial" panose="020B0604020202020204" pitchFamily="34" charset="0"/>
                        </a:rPr>
                        <a:t>Nefedov</a:t>
                      </a:r>
                      <a:endParaRPr lang="en-GB" sz="4000" b="1" dirty="0">
                        <a:solidFill>
                          <a:schemeClr val="bg1"/>
                        </a:solidFill>
                        <a:latin typeface="Arial" panose="020B0604020202020204" pitchFamily="34" charset="0"/>
                        <a:cs typeface="Arial" panose="020B0604020202020204" pitchFamily="34" charset="0"/>
                      </a:endParaRPr>
                    </a:p>
                  </a:txBody>
                  <a:tcPr anchor="ctr">
                    <a:solidFill>
                      <a:srgbClr val="B8946C"/>
                    </a:solidFill>
                  </a:tcPr>
                </a:tc>
                <a:tc vMerge="1">
                  <a:txBody>
                    <a:bodyPr/>
                    <a:lstStyle/>
                    <a:p>
                      <a:pPr algn="ctr"/>
                      <a:endParaRPr lang="en-GB" sz="4000" b="1" kern="1200" dirty="0">
                        <a:solidFill>
                          <a:schemeClr val="lt1"/>
                        </a:solidFill>
                        <a:latin typeface="Arial" panose="020B0604020202020204" pitchFamily="34" charset="0"/>
                        <a:ea typeface="+mn-ea"/>
                        <a:cs typeface="Arial" panose="020B0604020202020204" pitchFamily="34" charset="0"/>
                      </a:endParaRPr>
                    </a:p>
                  </a:txBody>
                  <a:tcPr anchor="ctr">
                    <a:solidFill>
                      <a:srgbClr val="009999"/>
                    </a:solidFill>
                  </a:tcPr>
                </a:tc>
                <a:tc vMerge="1">
                  <a:txBody>
                    <a:bodyPr/>
                    <a:lstStyle/>
                    <a:p>
                      <a:endParaRPr lang="en-GB" dirty="0"/>
                    </a:p>
                  </a:txBody>
                  <a:tcPr>
                    <a:solidFill>
                      <a:srgbClr val="009999"/>
                    </a:solidFill>
                  </a:tcPr>
                </a:tc>
                <a:extLst>
                  <a:ext uri="{0D108BD9-81ED-4DB2-BD59-A6C34878D82A}">
                    <a16:rowId xmlns:a16="http://schemas.microsoft.com/office/drawing/2014/main" val="2987700668"/>
                  </a:ext>
                </a:extLst>
              </a:tr>
            </a:tbl>
          </a:graphicData>
        </a:graphic>
      </p:graphicFrame>
      <p:pic>
        <p:nvPicPr>
          <p:cNvPr id="1026" name="Picture 1" descr="Related image">
            <a:extLst>
              <a:ext uri="{FF2B5EF4-FFF2-40B4-BE49-F238E27FC236}">
                <a16:creationId xmlns:a16="http://schemas.microsoft.com/office/drawing/2014/main" id="{5A5333D2-7388-4619-A766-D87FC1725F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40513" y="1040568"/>
            <a:ext cx="4252557" cy="281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מלבן 5">
            <a:extLst>
              <a:ext uri="{FF2B5EF4-FFF2-40B4-BE49-F238E27FC236}">
                <a16:creationId xmlns:a16="http://schemas.microsoft.com/office/drawing/2014/main" id="{8B516DEF-43E1-152A-672D-92F4546E6321}"/>
              </a:ext>
            </a:extLst>
          </p:cNvPr>
          <p:cNvSpPr/>
          <p:nvPr/>
        </p:nvSpPr>
        <p:spPr>
          <a:xfrm>
            <a:off x="14809497" y="5895647"/>
            <a:ext cx="8906846" cy="923330"/>
          </a:xfrm>
          <a:prstGeom prst="rect">
            <a:avLst/>
          </a:prstGeom>
          <a:solidFill>
            <a:srgbClr val="E1D2C1"/>
          </a:solidFill>
        </p:spPr>
        <p:txBody>
          <a:bodyPr wrap="square" lIns="91440" tIns="45720" rIns="91440" bIns="45720">
            <a:spAutoFit/>
          </a:bodyPr>
          <a:lstStyle/>
          <a:p>
            <a:pPr algn="ctr" rtl="1"/>
            <a:r>
              <a:rPr lang="he-IL" sz="5400" b="1" cap="none" spc="0" dirty="0">
                <a:ln w="0"/>
                <a:solidFill>
                  <a:schemeClr val="tx1"/>
                </a:solidFill>
                <a:effectLst>
                  <a:outerShdw blurRad="38100" dist="19050" dir="2700000" algn="tl" rotWithShape="0">
                    <a:schemeClr val="dk1">
                      <a:alpha val="40000"/>
                    </a:schemeClr>
                  </a:outerShdw>
                </a:effectLst>
              </a:rPr>
              <a:t>תקציר</a:t>
            </a:r>
          </a:p>
        </p:txBody>
      </p:sp>
      <p:sp>
        <p:nvSpPr>
          <p:cNvPr id="8" name="תיבת טקסט 7">
            <a:extLst>
              <a:ext uri="{FF2B5EF4-FFF2-40B4-BE49-F238E27FC236}">
                <a16:creationId xmlns:a16="http://schemas.microsoft.com/office/drawing/2014/main" id="{9E4F4F71-9F6D-E3E9-39B0-CCE5F6D0AF5A}"/>
              </a:ext>
            </a:extLst>
          </p:cNvPr>
          <p:cNvSpPr txBox="1"/>
          <p:nvPr/>
        </p:nvSpPr>
        <p:spPr>
          <a:xfrm>
            <a:off x="13548937" y="7044267"/>
            <a:ext cx="10227926" cy="3323987"/>
          </a:xfrm>
          <a:prstGeom prst="rect">
            <a:avLst/>
          </a:prstGeom>
          <a:noFill/>
        </p:spPr>
        <p:txBody>
          <a:bodyPr wrap="square" rtlCol="0">
            <a:spAutoFit/>
          </a:bodyPr>
          <a:lstStyle/>
          <a:p>
            <a:pPr algn="r" rtl="1"/>
            <a:r>
              <a:rPr lang="he-IL" sz="3000" b="1" u="sng" dirty="0"/>
              <a:t>סביבת פיתוח:</a:t>
            </a:r>
            <a:r>
              <a:rPr lang="en-US" sz="3000" dirty="0" err="1"/>
              <a:t>VScode,PyCharm</a:t>
            </a:r>
            <a:r>
              <a:rPr lang="he-IL" sz="3000" dirty="0"/>
              <a:t> </a:t>
            </a:r>
          </a:p>
          <a:p>
            <a:pPr algn="r" rtl="1"/>
            <a:r>
              <a:rPr lang="he-IL" sz="3000" b="1" u="sng" dirty="0"/>
              <a:t>שפות: </a:t>
            </a:r>
            <a:r>
              <a:rPr lang="en-US" sz="3000" dirty="0"/>
              <a:t>python , html , java script  </a:t>
            </a:r>
          </a:p>
          <a:p>
            <a:pPr algn="r" rtl="1"/>
            <a:r>
              <a:rPr lang="he-IL" sz="3000" b="1" u="sng" dirty="0"/>
              <a:t>המטרה: </a:t>
            </a:r>
            <a:r>
              <a:rPr lang="he-IL" sz="3000" dirty="0"/>
              <a:t>לפתח פלטפורמת תוכנה חדשנית ללימוד היסודות של שפת הסימנים (באנגלית בלבד) עם ממשק אינטראקטיבי המבוסס על טכנולוגיות למידת מכונה וראייה ממוחשבת</a:t>
            </a:r>
          </a:p>
          <a:p>
            <a:pPr algn="r" rtl="1"/>
            <a:r>
              <a:rPr lang="he-IL" sz="3000" b="1" u="sng" dirty="0"/>
              <a:t>ספריות: </a:t>
            </a:r>
            <a:r>
              <a:rPr lang="en-US" sz="3000" dirty="0"/>
              <a:t>flask , openCV , TensorFlow ,</a:t>
            </a:r>
            <a:r>
              <a:rPr lang="en-US" sz="3000" dirty="0" err="1"/>
              <a:t>mediapipe</a:t>
            </a:r>
            <a:r>
              <a:rPr lang="en-US" sz="3000" dirty="0"/>
              <a:t> , </a:t>
            </a:r>
            <a:r>
              <a:rPr lang="en-US" sz="3000" dirty="0" err="1"/>
              <a:t>numpy</a:t>
            </a:r>
            <a:r>
              <a:rPr lang="en-US" sz="3000" dirty="0"/>
              <a:t> , pandas , PIL , </a:t>
            </a:r>
            <a:r>
              <a:rPr lang="en-US" sz="3000" dirty="0" err="1"/>
              <a:t>keras</a:t>
            </a:r>
            <a:r>
              <a:rPr lang="en-US" sz="3000" dirty="0"/>
              <a:t> , </a:t>
            </a:r>
            <a:endParaRPr lang="he-IL" sz="3000" dirty="0"/>
          </a:p>
        </p:txBody>
      </p:sp>
      <p:sp>
        <p:nvSpPr>
          <p:cNvPr id="9" name="מלבן 8">
            <a:extLst>
              <a:ext uri="{FF2B5EF4-FFF2-40B4-BE49-F238E27FC236}">
                <a16:creationId xmlns:a16="http://schemas.microsoft.com/office/drawing/2014/main" id="{07908D68-2000-5AEC-F888-02D85A06877C}"/>
              </a:ext>
            </a:extLst>
          </p:cNvPr>
          <p:cNvSpPr/>
          <p:nvPr/>
        </p:nvSpPr>
        <p:spPr>
          <a:xfrm>
            <a:off x="12772571" y="10414408"/>
            <a:ext cx="10943772" cy="923330"/>
          </a:xfrm>
          <a:prstGeom prst="rect">
            <a:avLst/>
          </a:prstGeom>
          <a:solidFill>
            <a:srgbClr val="E1D2C1"/>
          </a:solidFill>
        </p:spPr>
        <p:txBody>
          <a:bodyPr wrap="square" lIns="91440" tIns="45720" rIns="91440" bIns="45720">
            <a:spAutoFit/>
          </a:bodyPr>
          <a:lstStyle/>
          <a:p>
            <a:pPr algn="ctr" rtl="1"/>
            <a:r>
              <a:rPr lang="he-IL" sz="5400" b="1" cap="none" spc="0" dirty="0">
                <a:ln w="0"/>
                <a:effectLst>
                  <a:outerShdw blurRad="38100" dist="19050" dir="2700000" algn="tl" rotWithShape="0">
                    <a:schemeClr val="dk1">
                      <a:alpha val="40000"/>
                    </a:schemeClr>
                  </a:outerShdw>
                </a:effectLst>
              </a:rPr>
              <a:t>רקע ורציונל</a:t>
            </a:r>
          </a:p>
        </p:txBody>
      </p:sp>
      <p:sp>
        <p:nvSpPr>
          <p:cNvPr id="10" name="תיבת טקסט 9">
            <a:extLst>
              <a:ext uri="{FF2B5EF4-FFF2-40B4-BE49-F238E27FC236}">
                <a16:creationId xmlns:a16="http://schemas.microsoft.com/office/drawing/2014/main" id="{7F46A773-5AAC-1BD2-E7CE-A422E74C18FC}"/>
              </a:ext>
            </a:extLst>
          </p:cNvPr>
          <p:cNvSpPr txBox="1"/>
          <p:nvPr/>
        </p:nvSpPr>
        <p:spPr>
          <a:xfrm>
            <a:off x="12772571" y="11584301"/>
            <a:ext cx="11004292" cy="2862322"/>
          </a:xfrm>
          <a:prstGeom prst="rect">
            <a:avLst/>
          </a:prstGeom>
          <a:noFill/>
        </p:spPr>
        <p:txBody>
          <a:bodyPr wrap="square" rtlCol="0">
            <a:spAutoFit/>
          </a:bodyPr>
          <a:lstStyle/>
          <a:p>
            <a:pPr algn="just" rtl="1" fontAlgn="base"/>
            <a:r>
              <a:rPr lang="he-IL" sz="3000" dirty="0"/>
              <a:t>שפת הסימנים היא כלי תקשורת חיוני עבור אנשים עם לקויות שמיעה ודיבור.</a:t>
            </a:r>
            <a:r>
              <a:rPr lang="en-US" sz="3000" dirty="0"/>
              <a:t> </a:t>
            </a:r>
            <a:r>
              <a:rPr lang="he-IL" sz="3000" dirty="0"/>
              <a:t>שימוש בטכנולוגיות מתקדמות, כמו למידת מכונה וראייה ממוחשבת, יכול להקל על למידת השפה ולשפר את התקשורת הבסיסית של ילדים כבדי שמיעה עם הסביבה הקרובה. באמצעות הפלטפורמה, המשתמשים לומדים תנועות ידיים ותרגילים שונים אשר מאפשרים להם לרכוש כלים לתקשורת בשפה זו.</a:t>
            </a:r>
            <a:endParaRPr lang="he-IL" sz="3000" b="0" i="0" dirty="0">
              <a:solidFill>
                <a:srgbClr val="000000"/>
              </a:solidFill>
              <a:effectLst/>
              <a:latin typeface="Segoe UI" panose="020B0502040204020203" pitchFamily="34" charset="0"/>
            </a:endParaRPr>
          </a:p>
        </p:txBody>
      </p:sp>
      <p:sp>
        <p:nvSpPr>
          <p:cNvPr id="13" name="מלבן 12">
            <a:extLst>
              <a:ext uri="{FF2B5EF4-FFF2-40B4-BE49-F238E27FC236}">
                <a16:creationId xmlns:a16="http://schemas.microsoft.com/office/drawing/2014/main" id="{56A1D359-80F0-68AB-F39D-062EDF72B7F6}"/>
              </a:ext>
            </a:extLst>
          </p:cNvPr>
          <p:cNvSpPr/>
          <p:nvPr/>
        </p:nvSpPr>
        <p:spPr>
          <a:xfrm>
            <a:off x="12772571" y="15320041"/>
            <a:ext cx="11064811" cy="923330"/>
          </a:xfrm>
          <a:prstGeom prst="rect">
            <a:avLst/>
          </a:prstGeom>
          <a:solidFill>
            <a:srgbClr val="E1D2C1"/>
          </a:solidFill>
        </p:spPr>
        <p:txBody>
          <a:bodyPr wrap="square" lIns="91440" tIns="45720" rIns="91440" bIns="45720">
            <a:spAutoFit/>
          </a:bodyPr>
          <a:lstStyle/>
          <a:p>
            <a:pPr algn="ctr" rtl="1"/>
            <a:r>
              <a:rPr lang="he-IL" sz="5400" b="1" dirty="0">
                <a:ln w="0"/>
                <a:effectLst>
                  <a:outerShdw blurRad="38100" dist="19050" dir="2700000" algn="tl" rotWithShape="0">
                    <a:schemeClr val="dk1">
                      <a:alpha val="40000"/>
                    </a:schemeClr>
                  </a:outerShdw>
                </a:effectLst>
              </a:rPr>
              <a:t>הסבר על הפלטפורמה</a:t>
            </a:r>
            <a:endParaRPr lang="he-IL" sz="5400" b="1" cap="none" spc="0" dirty="0">
              <a:ln w="0"/>
              <a:solidFill>
                <a:schemeClr val="tx1"/>
              </a:solidFill>
              <a:effectLst>
                <a:outerShdw blurRad="38100" dist="19050" dir="2700000" algn="tl" rotWithShape="0">
                  <a:schemeClr val="dk1">
                    <a:alpha val="40000"/>
                  </a:schemeClr>
                </a:outerShdw>
              </a:effectLst>
            </a:endParaRPr>
          </a:p>
        </p:txBody>
      </p:sp>
      <p:sp>
        <p:nvSpPr>
          <p:cNvPr id="14" name="תיבת טקסט 13">
            <a:extLst>
              <a:ext uri="{FF2B5EF4-FFF2-40B4-BE49-F238E27FC236}">
                <a16:creationId xmlns:a16="http://schemas.microsoft.com/office/drawing/2014/main" id="{A273A71C-FC62-13DC-6224-282F7FF4A28C}"/>
              </a:ext>
            </a:extLst>
          </p:cNvPr>
          <p:cNvSpPr txBox="1"/>
          <p:nvPr/>
        </p:nvSpPr>
        <p:spPr>
          <a:xfrm>
            <a:off x="12772571" y="16693952"/>
            <a:ext cx="11185850" cy="3323987"/>
          </a:xfrm>
          <a:prstGeom prst="rect">
            <a:avLst/>
          </a:prstGeom>
          <a:noFill/>
        </p:spPr>
        <p:txBody>
          <a:bodyPr wrap="square" rtlCol="0">
            <a:spAutoFit/>
          </a:bodyPr>
          <a:lstStyle/>
          <a:p>
            <a:pPr algn="just" rtl="1"/>
            <a:r>
              <a:rPr lang="he-IL" sz="3000" dirty="0"/>
              <a:t>הפלטפורמה שפותחה מציעה מגוון אפשרויות לימוד ותרגול לשפת הסימנים</a:t>
            </a:r>
            <a:r>
              <a:rPr lang="en-US" sz="3000" dirty="0"/>
              <a:t> </a:t>
            </a:r>
            <a:r>
              <a:rPr lang="he-IL" sz="3000" dirty="0"/>
              <a:t>בשפה האנגלית. המשתמשים יכולים ללמוד אותיות ותנועות ידיים שונות באמצעות מצלמה המנתחת את תנועותיהם, ומודל למידת מכונה המזהה את המחוות ומספק משוב בזמן אמת. בנוסף, הפלטפורמה משלבת גם מודל המזהה דיבור, המאפשר למשתמשים ללמוד אותיות ומילים דרך קול. המערכת מעוצבת בצורה צבעונית וידידותית, עם אפשרויות כמו משחקי זיכרון, תרגולים, ומבחן אינטראקטיבי שמספקים חוויית למידה מלאה.</a:t>
            </a:r>
          </a:p>
        </p:txBody>
      </p:sp>
      <p:sp>
        <p:nvSpPr>
          <p:cNvPr id="2" name="מלבן 1">
            <a:extLst>
              <a:ext uri="{FF2B5EF4-FFF2-40B4-BE49-F238E27FC236}">
                <a16:creationId xmlns:a16="http://schemas.microsoft.com/office/drawing/2014/main" id="{4314B35B-F0AC-6963-056F-708C0AF99786}"/>
              </a:ext>
            </a:extLst>
          </p:cNvPr>
          <p:cNvSpPr/>
          <p:nvPr/>
        </p:nvSpPr>
        <p:spPr>
          <a:xfrm>
            <a:off x="818147" y="16203464"/>
            <a:ext cx="11064810" cy="923330"/>
          </a:xfrm>
          <a:prstGeom prst="rect">
            <a:avLst/>
          </a:prstGeom>
          <a:solidFill>
            <a:srgbClr val="E1D2C1"/>
          </a:solidFill>
        </p:spPr>
        <p:txBody>
          <a:bodyPr wrap="square" lIns="91440" tIns="45720" rIns="91440" bIns="45720">
            <a:spAutoFit/>
          </a:bodyPr>
          <a:lstStyle/>
          <a:p>
            <a:pPr algn="ctr" rtl="1"/>
            <a:r>
              <a:rPr lang="he-IL" sz="5400" b="1" dirty="0"/>
              <a:t>שלבי פיתוח עיקריים</a:t>
            </a:r>
          </a:p>
        </p:txBody>
      </p:sp>
      <p:sp>
        <p:nvSpPr>
          <p:cNvPr id="4" name="תיבת טקסט 3">
            <a:extLst>
              <a:ext uri="{FF2B5EF4-FFF2-40B4-BE49-F238E27FC236}">
                <a16:creationId xmlns:a16="http://schemas.microsoft.com/office/drawing/2014/main" id="{C68319A7-7251-97F1-B2CA-86016F0C7AD7}"/>
              </a:ext>
            </a:extLst>
          </p:cNvPr>
          <p:cNvSpPr txBox="1"/>
          <p:nvPr/>
        </p:nvSpPr>
        <p:spPr>
          <a:xfrm>
            <a:off x="919820" y="17580035"/>
            <a:ext cx="11064810" cy="11633954"/>
          </a:xfrm>
          <a:prstGeom prst="rect">
            <a:avLst/>
          </a:prstGeom>
          <a:noFill/>
        </p:spPr>
        <p:txBody>
          <a:bodyPr wrap="square" rtlCol="0">
            <a:spAutoFit/>
          </a:bodyPr>
          <a:lstStyle/>
          <a:p>
            <a:pPr marL="514350" indent="-514350" algn="just" rtl="1">
              <a:buAutoNum type="arabicPeriod"/>
            </a:pPr>
            <a:r>
              <a:rPr lang="he-IL" sz="3000" b="1" dirty="0"/>
              <a:t>איסוף נתונים</a:t>
            </a:r>
            <a:r>
              <a:rPr lang="he-IL" sz="3000" dirty="0"/>
              <a:t>: תחילה נאספו תמונות של תנועות ידיים המשמשות כאותיות בשפת הסימנים, והן נותחו באמצעות ספריית </a:t>
            </a:r>
            <a:r>
              <a:rPr lang="en-US" sz="3000" dirty="0" err="1"/>
              <a:t>MediaPipe</a:t>
            </a:r>
            <a:r>
              <a:rPr lang="en-US" sz="3000" dirty="0"/>
              <a:t>, </a:t>
            </a:r>
            <a:r>
              <a:rPr lang="he-IL" sz="3000" dirty="0"/>
              <a:t>המספקת מיפוי של 21 נקודות מפתח ביד. כך ניתן לייצג כל מחווה בצורה מדויקת וליצור תבניות לזיהוי האותיות.</a:t>
            </a:r>
          </a:p>
          <a:p>
            <a:pPr marL="514350" indent="-514350" algn="just" rtl="1">
              <a:buAutoNum type="arabicPeriod"/>
            </a:pPr>
            <a:r>
              <a:rPr lang="he-IL" sz="3000" dirty="0"/>
              <a:t> </a:t>
            </a:r>
            <a:r>
              <a:rPr lang="he-IL" sz="3000" b="1" dirty="0"/>
              <a:t>עיבוד מקדים של הנתונים</a:t>
            </a:r>
            <a:r>
              <a:rPr lang="he-IL" sz="3000" dirty="0"/>
              <a:t>: הנתונים שנאספו עברו עיבוד נוסף שכלל נרמול כדי להבטיח קנה מידה אחיד וניקוי רעשים כדי להבטיח דיוק. כל תנועה קיבלה תווית בהתאם לאותיות שפת הסימנים, מה שיצר בסיס נתונים ברור ומובנה לאימון המודל.</a:t>
            </a:r>
          </a:p>
          <a:p>
            <a:pPr marL="514350" indent="-514350" algn="just" rtl="1">
              <a:buAutoNum type="arabicPeriod"/>
            </a:pPr>
            <a:r>
              <a:rPr lang="he-IL" sz="3000" dirty="0"/>
              <a:t> </a:t>
            </a:r>
            <a:r>
              <a:rPr lang="he-IL" sz="3000" b="1" dirty="0"/>
              <a:t>בחירת מודל למידת מכונה</a:t>
            </a:r>
            <a:r>
              <a:rPr lang="he-IL" sz="3000" dirty="0"/>
              <a:t>: נבחר מודל </a:t>
            </a:r>
            <a:r>
              <a:rPr lang="en-US" sz="3000" dirty="0"/>
              <a:t>CNN (</a:t>
            </a:r>
            <a:r>
              <a:rPr lang="he-IL" sz="3000" dirty="0"/>
              <a:t>רשת </a:t>
            </a:r>
            <a:r>
              <a:rPr lang="he-IL" sz="3000" dirty="0" err="1"/>
              <a:t>קונבולוציונית</a:t>
            </a:r>
            <a:r>
              <a:rPr lang="he-IL" sz="3000" dirty="0"/>
              <a:t>), המתמחה בזיהוי תבניות בתמונות, במיוחד לזיהוי תנועות מורכבות כמו בשפת הסימנים. הרשת כוללת שכבות </a:t>
            </a:r>
            <a:r>
              <a:rPr lang="he-IL" sz="3000" dirty="0" err="1"/>
              <a:t>קונבולוציה</a:t>
            </a:r>
            <a:r>
              <a:rPr lang="he-IL" sz="3000" dirty="0"/>
              <a:t> לזיהוי תבניות, שכבות </a:t>
            </a:r>
            <a:r>
              <a:rPr lang="en-US" sz="3000" dirty="0"/>
              <a:t>Pooling </a:t>
            </a:r>
            <a:r>
              <a:rPr lang="he-IL" sz="3000" dirty="0"/>
              <a:t>לצמצום מידע מיותר, ושכבות </a:t>
            </a:r>
            <a:r>
              <a:rPr lang="en-US" sz="3000" dirty="0"/>
              <a:t>Fully Connected </a:t>
            </a:r>
            <a:r>
              <a:rPr lang="he-IL" sz="3000" dirty="0"/>
              <a:t>לסיווג הסופי של כל תנועה</a:t>
            </a:r>
          </a:p>
          <a:p>
            <a:pPr marL="514350" indent="-514350" algn="just" rtl="1">
              <a:buAutoNum type="arabicPeriod"/>
            </a:pPr>
            <a:r>
              <a:rPr lang="he-IL" sz="3000" dirty="0"/>
              <a:t> </a:t>
            </a:r>
            <a:r>
              <a:rPr lang="he-IL" sz="3000" b="1" dirty="0"/>
              <a:t>אימון המודל</a:t>
            </a:r>
            <a:r>
              <a:rPr lang="he-IL" sz="3000" dirty="0"/>
              <a:t>: המודל אומן על הנתונים שעברו עיבוד במשך מחזורים רבים. במהלך האימון המודל שיפר את דיוקו על ידי אופטימיזציה של הפרמטרים, מה שאפשר לו להתמודד טוב יותר עם נתונים חדשים שלא ראה בעבר.</a:t>
            </a:r>
          </a:p>
          <a:p>
            <a:pPr marL="514350" indent="-514350" algn="just" rtl="1">
              <a:buAutoNum type="arabicPeriod"/>
            </a:pPr>
            <a:r>
              <a:rPr lang="he-IL" sz="3000" dirty="0"/>
              <a:t> </a:t>
            </a:r>
            <a:r>
              <a:rPr lang="he-IL" sz="3000" b="1" dirty="0"/>
              <a:t>הערכת המודל ושיפור</a:t>
            </a:r>
            <a:r>
              <a:rPr lang="he-IL" sz="3000" dirty="0"/>
              <a:t>: לאחר האימון, ביצועי המודל נבדקו על נתוני בדיקה. נמדדו מדדים כמו דיוק ו-</a:t>
            </a:r>
            <a:r>
              <a:rPr lang="en-US" sz="3000" dirty="0"/>
              <a:t>loss </a:t>
            </a:r>
            <a:r>
              <a:rPr lang="he-IL" sz="3000" dirty="0"/>
              <a:t>לאורך מחזורי האימון, והותאמו הפרמטרים כדי לשפר את יכולת המודל בזיהוי תנועות חדשות בצורה מיטבית.</a:t>
            </a:r>
          </a:p>
          <a:p>
            <a:pPr marL="514350" indent="-514350" algn="just" rtl="1">
              <a:buAutoNum type="arabicPeriod"/>
            </a:pPr>
            <a:r>
              <a:rPr lang="he-IL" sz="3000" dirty="0"/>
              <a:t> </a:t>
            </a:r>
            <a:r>
              <a:rPr lang="he-IL" sz="3000" b="1" dirty="0"/>
              <a:t>עיצוב ממשק המשתמש</a:t>
            </a:r>
            <a:r>
              <a:rPr lang="he-IL" sz="3000" dirty="0"/>
              <a:t>: הממשק עוצב בצורה אינטראקטיבית וידידותית, עם משחקים לתרגול התנועות ולמידה חווייתית, ממשק מבחן להערכת התקדמות המשתמשים, ומסכי תרגול ולימוד שבהם ניתן לשפר את כישורי השפה.</a:t>
            </a:r>
          </a:p>
        </p:txBody>
      </p:sp>
      <p:pic>
        <p:nvPicPr>
          <p:cNvPr id="17" name="תמונה 16" descr="תמונה שמכילה טקסט, צילום מסך, תפריט&#10;&#10;התיאור נוצר באופן אוטומטי">
            <a:extLst>
              <a:ext uri="{FF2B5EF4-FFF2-40B4-BE49-F238E27FC236}">
                <a16:creationId xmlns:a16="http://schemas.microsoft.com/office/drawing/2014/main" id="{B06BD635-3F6F-946E-4253-A737C211A6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093841" y="27981127"/>
            <a:ext cx="5234012" cy="6405734"/>
          </a:xfrm>
          <a:prstGeom prst="rect">
            <a:avLst/>
          </a:prstGeom>
        </p:spPr>
      </p:pic>
      <p:pic>
        <p:nvPicPr>
          <p:cNvPr id="19" name="תמונה 18" descr="תמונה שמכילה צילום מסך, טקסט, תוכנה גרפית&#10;&#10;התיאור נוצר באופן אוטומטי">
            <a:extLst>
              <a:ext uri="{FF2B5EF4-FFF2-40B4-BE49-F238E27FC236}">
                <a16:creationId xmlns:a16="http://schemas.microsoft.com/office/drawing/2014/main" id="{FC8A2AA7-A0EF-3A4B-169D-30364CBECA2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03832" y="30160106"/>
            <a:ext cx="9561043" cy="3028654"/>
          </a:xfrm>
          <a:prstGeom prst="rect">
            <a:avLst/>
          </a:prstGeom>
        </p:spPr>
      </p:pic>
      <p:sp>
        <p:nvSpPr>
          <p:cNvPr id="20" name="Freeform 3">
            <a:extLst>
              <a:ext uri="{FF2B5EF4-FFF2-40B4-BE49-F238E27FC236}">
                <a16:creationId xmlns:a16="http://schemas.microsoft.com/office/drawing/2014/main" id="{EEC0434F-87F5-E9D9-DABA-B3FA65BE9B53}"/>
              </a:ext>
            </a:extLst>
          </p:cNvPr>
          <p:cNvSpPr/>
          <p:nvPr/>
        </p:nvSpPr>
        <p:spPr>
          <a:xfrm>
            <a:off x="13658118" y="28024016"/>
            <a:ext cx="5327505" cy="4076934"/>
          </a:xfrm>
          <a:custGeom>
            <a:avLst/>
            <a:gdLst/>
            <a:ahLst/>
            <a:cxnLst/>
            <a:rect l="l" t="t" r="r" b="b"/>
            <a:pathLst>
              <a:path w="2565060" h="2541853">
                <a:moveTo>
                  <a:pt x="0" y="0"/>
                </a:moveTo>
                <a:lnTo>
                  <a:pt x="2565059" y="0"/>
                </a:lnTo>
                <a:lnTo>
                  <a:pt x="2565059" y="2541852"/>
                </a:lnTo>
                <a:lnTo>
                  <a:pt x="0" y="2541852"/>
                </a:lnTo>
                <a:lnTo>
                  <a:pt x="0" y="0"/>
                </a:lnTo>
                <a:close/>
              </a:path>
            </a:pathLst>
          </a:custGeom>
          <a:blipFill>
            <a:blip r:embed="rId6"/>
            <a:stretch>
              <a:fillRect r="-32241" b="-66551"/>
            </a:stretch>
          </a:blipFill>
        </p:spPr>
        <p:txBody>
          <a:bodyPr/>
          <a:lstStyle/>
          <a:p>
            <a:pPr algn="r" rtl="1"/>
            <a:endParaRPr lang="en-IL"/>
          </a:p>
        </p:txBody>
      </p:sp>
      <p:sp>
        <p:nvSpPr>
          <p:cNvPr id="21" name="Freeform 4">
            <a:extLst>
              <a:ext uri="{FF2B5EF4-FFF2-40B4-BE49-F238E27FC236}">
                <a16:creationId xmlns:a16="http://schemas.microsoft.com/office/drawing/2014/main" id="{9E6A5C4B-3BA1-43E8-4F19-3F92117E112D}"/>
              </a:ext>
            </a:extLst>
          </p:cNvPr>
          <p:cNvSpPr/>
          <p:nvPr/>
        </p:nvSpPr>
        <p:spPr>
          <a:xfrm>
            <a:off x="13720824" y="32105265"/>
            <a:ext cx="5202093" cy="2305054"/>
          </a:xfrm>
          <a:custGeom>
            <a:avLst/>
            <a:gdLst/>
            <a:ahLst/>
            <a:cxnLst/>
            <a:rect l="l" t="t" r="r" b="b"/>
            <a:pathLst>
              <a:path w="2654099" h="933159">
                <a:moveTo>
                  <a:pt x="0" y="0"/>
                </a:moveTo>
                <a:lnTo>
                  <a:pt x="2654099" y="0"/>
                </a:lnTo>
                <a:lnTo>
                  <a:pt x="2654099" y="933159"/>
                </a:lnTo>
                <a:lnTo>
                  <a:pt x="0" y="933159"/>
                </a:lnTo>
                <a:lnTo>
                  <a:pt x="0" y="0"/>
                </a:lnTo>
                <a:close/>
              </a:path>
            </a:pathLst>
          </a:custGeom>
          <a:blipFill>
            <a:blip r:embed="rId6"/>
            <a:stretch>
              <a:fillRect t="-326116" r="-51697" b="-112366"/>
            </a:stretch>
          </a:blipFill>
        </p:spPr>
        <p:txBody>
          <a:bodyPr/>
          <a:lstStyle/>
          <a:p>
            <a:pPr algn="r" rtl="1"/>
            <a:endParaRPr lang="en-IL"/>
          </a:p>
        </p:txBody>
      </p:sp>
      <p:sp>
        <p:nvSpPr>
          <p:cNvPr id="22" name="Freeform 7">
            <a:extLst>
              <a:ext uri="{FF2B5EF4-FFF2-40B4-BE49-F238E27FC236}">
                <a16:creationId xmlns:a16="http://schemas.microsoft.com/office/drawing/2014/main" id="{B7EC7327-699A-1678-D637-3262C9F9C613}"/>
              </a:ext>
            </a:extLst>
          </p:cNvPr>
          <p:cNvSpPr/>
          <p:nvPr/>
        </p:nvSpPr>
        <p:spPr>
          <a:xfrm>
            <a:off x="10090287" y="30748407"/>
            <a:ext cx="3567831" cy="3182938"/>
          </a:xfrm>
          <a:custGeom>
            <a:avLst/>
            <a:gdLst/>
            <a:ahLst/>
            <a:cxnLst/>
            <a:rect l="l" t="t" r="r" b="b"/>
            <a:pathLst>
              <a:path w="3189951" h="3109012">
                <a:moveTo>
                  <a:pt x="0" y="0"/>
                </a:moveTo>
                <a:lnTo>
                  <a:pt x="3189951" y="0"/>
                </a:lnTo>
                <a:lnTo>
                  <a:pt x="3189951" y="3109013"/>
                </a:lnTo>
                <a:lnTo>
                  <a:pt x="0" y="3109013"/>
                </a:lnTo>
                <a:lnTo>
                  <a:pt x="0" y="0"/>
                </a:lnTo>
                <a:close/>
              </a:path>
            </a:pathLst>
          </a:custGeom>
          <a:blipFill>
            <a:blip r:embed="rId7"/>
            <a:stretch>
              <a:fillRect/>
            </a:stretch>
          </a:blipFill>
          <a:ln w="28575">
            <a:solidFill>
              <a:schemeClr val="tx1"/>
            </a:solidFill>
          </a:ln>
        </p:spPr>
        <p:txBody>
          <a:bodyPr/>
          <a:lstStyle/>
          <a:p>
            <a:pPr algn="r" rtl="1"/>
            <a:endParaRPr lang="en-IL" dirty="0"/>
          </a:p>
        </p:txBody>
      </p:sp>
      <p:sp>
        <p:nvSpPr>
          <p:cNvPr id="23" name="מלבן 22">
            <a:extLst>
              <a:ext uri="{FF2B5EF4-FFF2-40B4-BE49-F238E27FC236}">
                <a16:creationId xmlns:a16="http://schemas.microsoft.com/office/drawing/2014/main" id="{CEE448D7-1D9B-0950-4850-B6390C50DE41}"/>
              </a:ext>
            </a:extLst>
          </p:cNvPr>
          <p:cNvSpPr/>
          <p:nvPr/>
        </p:nvSpPr>
        <p:spPr>
          <a:xfrm>
            <a:off x="12772571" y="20683963"/>
            <a:ext cx="11064811" cy="923330"/>
          </a:xfrm>
          <a:prstGeom prst="rect">
            <a:avLst/>
          </a:prstGeom>
          <a:solidFill>
            <a:srgbClr val="E1D2C1"/>
          </a:solidFill>
        </p:spPr>
        <p:txBody>
          <a:bodyPr wrap="square" lIns="91440" tIns="45720" rIns="91440" bIns="45720">
            <a:spAutoFit/>
          </a:bodyPr>
          <a:lstStyle/>
          <a:p>
            <a:pPr algn="ctr" rtl="1"/>
            <a:r>
              <a:rPr lang="he-IL" sz="5400" b="1" dirty="0">
                <a:ln w="0"/>
                <a:effectLst>
                  <a:outerShdw blurRad="38100" dist="19050" dir="2700000" algn="tl" rotWithShape="0">
                    <a:schemeClr val="dk1">
                      <a:alpha val="40000"/>
                    </a:schemeClr>
                  </a:outerShdw>
                </a:effectLst>
              </a:rPr>
              <a:t>מסקנות וסיכום</a:t>
            </a:r>
            <a:endParaRPr lang="he-IL" sz="5400" b="1" cap="none" spc="0" dirty="0">
              <a:ln w="0"/>
              <a:solidFill>
                <a:schemeClr val="tx1"/>
              </a:solidFill>
              <a:effectLst>
                <a:outerShdw blurRad="38100" dist="19050" dir="2700000" algn="tl" rotWithShape="0">
                  <a:schemeClr val="dk1">
                    <a:alpha val="40000"/>
                  </a:schemeClr>
                </a:outerShdw>
              </a:effectLst>
            </a:endParaRPr>
          </a:p>
        </p:txBody>
      </p:sp>
      <p:sp>
        <p:nvSpPr>
          <p:cNvPr id="24" name="תיבת טקסט 23">
            <a:extLst>
              <a:ext uri="{FF2B5EF4-FFF2-40B4-BE49-F238E27FC236}">
                <a16:creationId xmlns:a16="http://schemas.microsoft.com/office/drawing/2014/main" id="{E570ABA5-9A51-E340-2FD2-9A630A22EBB8}"/>
              </a:ext>
            </a:extLst>
          </p:cNvPr>
          <p:cNvSpPr txBox="1"/>
          <p:nvPr/>
        </p:nvSpPr>
        <p:spPr>
          <a:xfrm>
            <a:off x="12772571" y="21893122"/>
            <a:ext cx="11185850" cy="5355312"/>
          </a:xfrm>
          <a:prstGeom prst="rect">
            <a:avLst/>
          </a:prstGeom>
          <a:noFill/>
        </p:spPr>
        <p:txBody>
          <a:bodyPr wrap="square" rtlCol="0">
            <a:spAutoFit/>
          </a:bodyPr>
          <a:lstStyle/>
          <a:p>
            <a:pPr algn="r" rtl="1"/>
            <a:r>
              <a:rPr lang="he-IL" sz="3000" dirty="0"/>
              <a:t>הפרויקט הראה כי ניתן לשפר את הלמידה של שפת הסימנים באמצעות שילוב טכנולוגיות של למידת מכונה וראייה ממוחשבת. הפלטפורמה מסייעת במיוחד לילדים כבדי שמיעה לשפר את כישוריהם הבסיסיים בתקשורת עם הסביבה.</a:t>
            </a:r>
          </a:p>
          <a:p>
            <a:pPr algn="r" rtl="1"/>
            <a:endParaRPr lang="he-IL" sz="3000" dirty="0"/>
          </a:p>
          <a:p>
            <a:pPr algn="r" rtl="1"/>
            <a:r>
              <a:rPr lang="he-IL" sz="3200" dirty="0"/>
              <a:t>בפרויקט פיתחנו פלטפורמה אינטראקטיבית ללימוד שפת הסימנים, המשלבת טכנולוגיות למידת מכונה וראייה ממוחשבת. הפלטפורמה מאפשרת זיהוי תנועות ידיים ודיבור, תוך מתן משוב בזמן אמת ללמידה ותרגול. הממשק עוצב בצורה ידידותית, עם תרגולים, משחקים ומבחנים לחיזוק המיומנויות. הפלטפורמה מסייעת לשפר את התקשורת של ילדים כבדי שמיעה עם סביבתם</a:t>
            </a:r>
            <a:endParaRPr lang="he-IL" sz="3000" b="1" dirty="0"/>
          </a:p>
        </p:txBody>
      </p:sp>
      <p:sp>
        <p:nvSpPr>
          <p:cNvPr id="25" name="Freeform 5">
            <a:extLst>
              <a:ext uri="{FF2B5EF4-FFF2-40B4-BE49-F238E27FC236}">
                <a16:creationId xmlns:a16="http://schemas.microsoft.com/office/drawing/2014/main" id="{B7FA3289-E974-8BA5-FD33-21A18278D152}"/>
              </a:ext>
            </a:extLst>
          </p:cNvPr>
          <p:cNvSpPr/>
          <p:nvPr/>
        </p:nvSpPr>
        <p:spPr>
          <a:xfrm>
            <a:off x="403832" y="33299400"/>
            <a:ext cx="9561043" cy="1087461"/>
          </a:xfrm>
          <a:custGeom>
            <a:avLst/>
            <a:gdLst/>
            <a:ahLst/>
            <a:cxnLst/>
            <a:rect l="l" t="t" r="r" b="b"/>
            <a:pathLst>
              <a:path w="11568664" h="911032">
                <a:moveTo>
                  <a:pt x="0" y="0"/>
                </a:moveTo>
                <a:lnTo>
                  <a:pt x="11568664" y="0"/>
                </a:lnTo>
                <a:lnTo>
                  <a:pt x="11568664" y="911032"/>
                </a:lnTo>
                <a:lnTo>
                  <a:pt x="0" y="911032"/>
                </a:lnTo>
                <a:lnTo>
                  <a:pt x="0" y="0"/>
                </a:lnTo>
                <a:close/>
              </a:path>
            </a:pathLst>
          </a:custGeom>
          <a:blipFill>
            <a:blip r:embed="rId8"/>
            <a:stretch>
              <a:fillRect/>
            </a:stretch>
          </a:blipFill>
        </p:spPr>
        <p:txBody>
          <a:bodyPr/>
          <a:lstStyle/>
          <a:p>
            <a:pPr algn="r" rtl="1"/>
            <a:endParaRPr lang="en-IL"/>
          </a:p>
        </p:txBody>
      </p:sp>
      <p:sp>
        <p:nvSpPr>
          <p:cNvPr id="26" name="Freeform 5">
            <a:extLst>
              <a:ext uri="{FF2B5EF4-FFF2-40B4-BE49-F238E27FC236}">
                <a16:creationId xmlns:a16="http://schemas.microsoft.com/office/drawing/2014/main" id="{53EE9950-20CF-53A4-C7D7-D4DE447AA86B}"/>
              </a:ext>
            </a:extLst>
          </p:cNvPr>
          <p:cNvSpPr/>
          <p:nvPr/>
        </p:nvSpPr>
        <p:spPr>
          <a:xfrm>
            <a:off x="698226" y="6770898"/>
            <a:ext cx="3279792" cy="2558177"/>
          </a:xfrm>
          <a:custGeom>
            <a:avLst/>
            <a:gdLst/>
            <a:ahLst/>
            <a:cxnLst/>
            <a:rect l="l" t="t" r="r" b="b"/>
            <a:pathLst>
              <a:path w="4394039" h="3139612">
                <a:moveTo>
                  <a:pt x="0" y="0"/>
                </a:moveTo>
                <a:lnTo>
                  <a:pt x="4394039" y="0"/>
                </a:lnTo>
                <a:lnTo>
                  <a:pt x="4394039" y="3139612"/>
                </a:lnTo>
                <a:lnTo>
                  <a:pt x="0" y="3139612"/>
                </a:lnTo>
                <a:lnTo>
                  <a:pt x="0" y="0"/>
                </a:lnTo>
                <a:close/>
              </a:path>
            </a:pathLst>
          </a:custGeom>
          <a:blipFill>
            <a:blip r:embed="rId9"/>
            <a:stretch>
              <a:fillRect r="-81464"/>
            </a:stretch>
          </a:blipFill>
        </p:spPr>
        <p:txBody>
          <a:bodyPr/>
          <a:lstStyle/>
          <a:p>
            <a:pPr algn="r" rtl="1"/>
            <a:endParaRPr lang="en-IL"/>
          </a:p>
        </p:txBody>
      </p:sp>
      <p:sp>
        <p:nvSpPr>
          <p:cNvPr id="27" name="Freeform 6">
            <a:extLst>
              <a:ext uri="{FF2B5EF4-FFF2-40B4-BE49-F238E27FC236}">
                <a16:creationId xmlns:a16="http://schemas.microsoft.com/office/drawing/2014/main" id="{34471C0F-8478-F6A0-9308-288E8B77C009}"/>
              </a:ext>
            </a:extLst>
          </p:cNvPr>
          <p:cNvSpPr/>
          <p:nvPr/>
        </p:nvSpPr>
        <p:spPr>
          <a:xfrm>
            <a:off x="3214711" y="7775089"/>
            <a:ext cx="2312110" cy="2430687"/>
          </a:xfrm>
          <a:custGeom>
            <a:avLst/>
            <a:gdLst/>
            <a:ahLst/>
            <a:cxnLst/>
            <a:rect l="l" t="t" r="r" b="b"/>
            <a:pathLst>
              <a:path w="3097605" h="2983146">
                <a:moveTo>
                  <a:pt x="0" y="0"/>
                </a:moveTo>
                <a:lnTo>
                  <a:pt x="3097605" y="0"/>
                </a:lnTo>
                <a:lnTo>
                  <a:pt x="3097605" y="2983146"/>
                </a:lnTo>
                <a:lnTo>
                  <a:pt x="0" y="2983146"/>
                </a:lnTo>
                <a:lnTo>
                  <a:pt x="0" y="0"/>
                </a:lnTo>
                <a:close/>
              </a:path>
            </a:pathLst>
          </a:custGeom>
          <a:blipFill>
            <a:blip r:embed="rId9"/>
            <a:stretch>
              <a:fillRect l="-152257" t="-5245" r="-5154"/>
            </a:stretch>
          </a:blipFill>
        </p:spPr>
        <p:txBody>
          <a:bodyPr/>
          <a:lstStyle/>
          <a:p>
            <a:pPr algn="r" rtl="1"/>
            <a:endParaRPr lang="en-IL"/>
          </a:p>
        </p:txBody>
      </p:sp>
      <p:pic>
        <p:nvPicPr>
          <p:cNvPr id="28" name="תמונה 27">
            <a:extLst>
              <a:ext uri="{FF2B5EF4-FFF2-40B4-BE49-F238E27FC236}">
                <a16:creationId xmlns:a16="http://schemas.microsoft.com/office/drawing/2014/main" id="{2E917533-28EB-C6C3-B5CE-CBF35C6A2040}"/>
              </a:ext>
            </a:extLst>
          </p:cNvPr>
          <p:cNvPicPr>
            <a:picLocks noChangeAspect="1"/>
          </p:cNvPicPr>
          <p:nvPr/>
        </p:nvPicPr>
        <p:blipFill>
          <a:blip r:embed="rId10"/>
          <a:stretch>
            <a:fillRect/>
          </a:stretch>
        </p:blipFill>
        <p:spPr>
          <a:xfrm>
            <a:off x="5860412" y="7358766"/>
            <a:ext cx="7294414" cy="3401281"/>
          </a:xfrm>
          <a:prstGeom prst="rect">
            <a:avLst/>
          </a:prstGeom>
        </p:spPr>
      </p:pic>
      <p:pic>
        <p:nvPicPr>
          <p:cNvPr id="29" name="תמונה 28">
            <a:extLst>
              <a:ext uri="{FF2B5EF4-FFF2-40B4-BE49-F238E27FC236}">
                <a16:creationId xmlns:a16="http://schemas.microsoft.com/office/drawing/2014/main" id="{296534C3-5E58-3603-9CAD-4AF5E97B7958}"/>
              </a:ext>
            </a:extLst>
          </p:cNvPr>
          <p:cNvPicPr>
            <a:picLocks noChangeAspect="1"/>
          </p:cNvPicPr>
          <p:nvPr/>
        </p:nvPicPr>
        <p:blipFill>
          <a:blip r:embed="rId11"/>
          <a:stretch>
            <a:fillRect/>
          </a:stretch>
        </p:blipFill>
        <p:spPr>
          <a:xfrm>
            <a:off x="4310738" y="4853310"/>
            <a:ext cx="4579650" cy="2468354"/>
          </a:xfrm>
          <a:prstGeom prst="rect">
            <a:avLst/>
          </a:prstGeom>
        </p:spPr>
      </p:pic>
      <p:sp>
        <p:nvSpPr>
          <p:cNvPr id="30" name="Freeform 5">
            <a:extLst>
              <a:ext uri="{FF2B5EF4-FFF2-40B4-BE49-F238E27FC236}">
                <a16:creationId xmlns:a16="http://schemas.microsoft.com/office/drawing/2014/main" id="{BA17436D-709B-5141-AF84-E25829801A95}"/>
              </a:ext>
            </a:extLst>
          </p:cNvPr>
          <p:cNvSpPr/>
          <p:nvPr/>
        </p:nvSpPr>
        <p:spPr>
          <a:xfrm>
            <a:off x="698226" y="10779894"/>
            <a:ext cx="4240249" cy="4415531"/>
          </a:xfrm>
          <a:custGeom>
            <a:avLst/>
            <a:gdLst/>
            <a:ahLst/>
            <a:cxnLst/>
            <a:rect l="l" t="t" r="r" b="b"/>
            <a:pathLst>
              <a:path w="4240249" h="4415531">
                <a:moveTo>
                  <a:pt x="0" y="0"/>
                </a:moveTo>
                <a:lnTo>
                  <a:pt x="4240249" y="0"/>
                </a:lnTo>
                <a:lnTo>
                  <a:pt x="4240249" y="4415531"/>
                </a:lnTo>
                <a:lnTo>
                  <a:pt x="0" y="4415531"/>
                </a:lnTo>
                <a:lnTo>
                  <a:pt x="0" y="0"/>
                </a:lnTo>
                <a:close/>
              </a:path>
            </a:pathLst>
          </a:custGeom>
          <a:blipFill>
            <a:blip r:embed="rId12"/>
            <a:stretch>
              <a:fillRect l="-8917" t="-1699" r="-12868" b="-7478"/>
            </a:stretch>
          </a:blipFill>
          <a:ln w="47625" cap="rnd">
            <a:solidFill>
              <a:srgbClr val="8BDEF9"/>
            </a:solidFill>
            <a:prstDash val="solid"/>
            <a:round/>
          </a:ln>
        </p:spPr>
        <p:txBody>
          <a:bodyPr/>
          <a:lstStyle/>
          <a:p>
            <a:pPr algn="r" rtl="1"/>
            <a:endParaRPr lang="en-IL"/>
          </a:p>
        </p:txBody>
      </p:sp>
      <p:pic>
        <p:nvPicPr>
          <p:cNvPr id="32" name="תמונה 31" descr="תמונה שמכילה פני אדם, אדם, חיוך, לבוש&#10;&#10;התיאור נוצר באופן אוטומטי">
            <a:extLst>
              <a:ext uri="{FF2B5EF4-FFF2-40B4-BE49-F238E27FC236}">
                <a16:creationId xmlns:a16="http://schemas.microsoft.com/office/drawing/2014/main" id="{C362AACD-19A2-E59F-85A0-1E0ED466295A}"/>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6600563" y="10811965"/>
            <a:ext cx="4944665" cy="4726739"/>
          </a:xfrm>
          <a:prstGeom prst="rect">
            <a:avLst/>
          </a:prstGeom>
        </p:spPr>
      </p:pic>
      <p:sp>
        <p:nvSpPr>
          <p:cNvPr id="15" name="Freeform 3">
            <a:extLst>
              <a:ext uri="{FF2B5EF4-FFF2-40B4-BE49-F238E27FC236}">
                <a16:creationId xmlns:a16="http://schemas.microsoft.com/office/drawing/2014/main" id="{2D5F0D51-D0AD-75FE-84F3-EBB7279D2980}"/>
              </a:ext>
            </a:extLst>
          </p:cNvPr>
          <p:cNvSpPr/>
          <p:nvPr/>
        </p:nvSpPr>
        <p:spPr>
          <a:xfrm rot="1922509" flipV="1">
            <a:off x="8992771" y="6097464"/>
            <a:ext cx="1944208" cy="549239"/>
          </a:xfrm>
          <a:custGeom>
            <a:avLst/>
            <a:gdLst/>
            <a:ahLst/>
            <a:cxnLst/>
            <a:rect l="l" t="t" r="r" b="b"/>
            <a:pathLst>
              <a:path w="1944208" h="549239">
                <a:moveTo>
                  <a:pt x="0" y="549239"/>
                </a:moveTo>
                <a:lnTo>
                  <a:pt x="1944208" y="549239"/>
                </a:lnTo>
                <a:lnTo>
                  <a:pt x="1944208" y="0"/>
                </a:lnTo>
                <a:lnTo>
                  <a:pt x="0" y="0"/>
                </a:lnTo>
                <a:lnTo>
                  <a:pt x="0" y="549239"/>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IL"/>
          </a:p>
        </p:txBody>
      </p:sp>
      <p:sp>
        <p:nvSpPr>
          <p:cNvPr id="16" name="Freeform 4">
            <a:extLst>
              <a:ext uri="{FF2B5EF4-FFF2-40B4-BE49-F238E27FC236}">
                <a16:creationId xmlns:a16="http://schemas.microsoft.com/office/drawing/2014/main" id="{44EE9325-2AC7-09B7-AE8F-A611DA2D9934}"/>
              </a:ext>
            </a:extLst>
          </p:cNvPr>
          <p:cNvSpPr/>
          <p:nvPr/>
        </p:nvSpPr>
        <p:spPr>
          <a:xfrm rot="20279007" flipH="1" flipV="1">
            <a:off x="2192202" y="5808591"/>
            <a:ext cx="2045018" cy="577718"/>
          </a:xfrm>
          <a:custGeom>
            <a:avLst/>
            <a:gdLst/>
            <a:ahLst/>
            <a:cxnLst/>
            <a:rect l="l" t="t" r="r" b="b"/>
            <a:pathLst>
              <a:path w="2045018" h="577718">
                <a:moveTo>
                  <a:pt x="2045018" y="577718"/>
                </a:moveTo>
                <a:lnTo>
                  <a:pt x="0" y="577718"/>
                </a:lnTo>
                <a:lnTo>
                  <a:pt x="0" y="0"/>
                </a:lnTo>
                <a:lnTo>
                  <a:pt x="2045018" y="0"/>
                </a:lnTo>
                <a:lnTo>
                  <a:pt x="2045018" y="577718"/>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IL"/>
          </a:p>
        </p:txBody>
      </p:sp>
      <p:sp>
        <p:nvSpPr>
          <p:cNvPr id="34" name="מלבן 33">
            <a:extLst>
              <a:ext uri="{FF2B5EF4-FFF2-40B4-BE49-F238E27FC236}">
                <a16:creationId xmlns:a16="http://schemas.microsoft.com/office/drawing/2014/main" id="{C7EF8E72-71EB-F734-5F8A-002D5847D71D}"/>
              </a:ext>
            </a:extLst>
          </p:cNvPr>
          <p:cNvSpPr/>
          <p:nvPr/>
        </p:nvSpPr>
        <p:spPr>
          <a:xfrm>
            <a:off x="10031497" y="33971362"/>
            <a:ext cx="3689327" cy="461665"/>
          </a:xfrm>
          <a:prstGeom prst="rect">
            <a:avLst/>
          </a:prstGeom>
          <a:solidFill>
            <a:srgbClr val="E1D2C1"/>
          </a:solidFill>
        </p:spPr>
        <p:txBody>
          <a:bodyPr wrap="square" lIns="91440" tIns="45720" rIns="91440" bIns="45720">
            <a:spAutoFit/>
          </a:bodyPr>
          <a:lstStyle/>
          <a:p>
            <a:pPr algn="ctr" rtl="1"/>
            <a:r>
              <a:rPr lang="he-IL" sz="2400" b="1" cap="none" spc="0" dirty="0">
                <a:ln w="0"/>
                <a:solidFill>
                  <a:schemeClr val="tx1"/>
                </a:solidFill>
                <a:effectLst>
                  <a:outerShdw blurRad="38100" dist="19050" dir="2700000" algn="tl" rotWithShape="0">
                    <a:schemeClr val="dk1">
                      <a:alpha val="40000"/>
                    </a:schemeClr>
                  </a:outerShdw>
                </a:effectLst>
              </a:rPr>
              <a:t>21 נקודות מפתח של היד</a:t>
            </a:r>
          </a:p>
        </p:txBody>
      </p:sp>
      <p:sp>
        <p:nvSpPr>
          <p:cNvPr id="35" name="מלבן 34">
            <a:extLst>
              <a:ext uri="{FF2B5EF4-FFF2-40B4-BE49-F238E27FC236}">
                <a16:creationId xmlns:a16="http://schemas.microsoft.com/office/drawing/2014/main" id="{7A199FC1-5DC3-32F3-96C9-A9EFE9091C37}"/>
              </a:ext>
            </a:extLst>
          </p:cNvPr>
          <p:cNvSpPr/>
          <p:nvPr/>
        </p:nvSpPr>
        <p:spPr>
          <a:xfrm>
            <a:off x="13720823" y="34473044"/>
            <a:ext cx="5202093" cy="400110"/>
          </a:xfrm>
          <a:prstGeom prst="rect">
            <a:avLst/>
          </a:prstGeom>
          <a:solidFill>
            <a:srgbClr val="E1D2C1"/>
          </a:solidFill>
        </p:spPr>
        <p:txBody>
          <a:bodyPr wrap="square" lIns="91440" tIns="45720" rIns="91440" bIns="45720">
            <a:spAutoFit/>
          </a:bodyPr>
          <a:lstStyle/>
          <a:p>
            <a:pPr algn="ctr" rtl="1"/>
            <a:r>
              <a:rPr lang="he-IL" sz="2000" b="1" cap="none" spc="0" dirty="0" err="1">
                <a:ln w="0"/>
                <a:solidFill>
                  <a:schemeClr val="tx1"/>
                </a:solidFill>
                <a:effectLst>
                  <a:outerShdw blurRad="38100" dist="19050" dir="2700000" algn="tl" rotWithShape="0">
                    <a:schemeClr val="dk1">
                      <a:alpha val="40000"/>
                    </a:schemeClr>
                  </a:outerShdw>
                </a:effectLst>
              </a:rPr>
              <a:t>יצוג</a:t>
            </a:r>
            <a:r>
              <a:rPr lang="he-IL" sz="2000" b="1" cap="none" spc="0" dirty="0">
                <a:ln w="0"/>
                <a:solidFill>
                  <a:schemeClr val="tx1"/>
                </a:solidFill>
                <a:effectLst>
                  <a:outerShdw blurRad="38100" dist="19050" dir="2700000" algn="tl" rotWithShape="0">
                    <a:schemeClr val="dk1">
                      <a:alpha val="40000"/>
                    </a:schemeClr>
                  </a:outerShdw>
                </a:effectLst>
              </a:rPr>
              <a:t> </a:t>
            </a:r>
            <a:r>
              <a:rPr lang="he-IL" sz="2000" b="1" cap="none" spc="0" dirty="0" err="1">
                <a:ln w="0"/>
                <a:solidFill>
                  <a:schemeClr val="tx1"/>
                </a:solidFill>
                <a:effectLst>
                  <a:outerShdw blurRad="38100" dist="19050" dir="2700000" algn="tl" rotWithShape="0">
                    <a:schemeClr val="dk1">
                      <a:alpha val="40000"/>
                    </a:schemeClr>
                  </a:outerShdw>
                </a:effectLst>
              </a:rPr>
              <a:t>קורדינאטות</a:t>
            </a:r>
            <a:r>
              <a:rPr lang="he-IL" sz="2000" b="1" cap="none" spc="0" dirty="0">
                <a:ln w="0"/>
                <a:solidFill>
                  <a:schemeClr val="tx1"/>
                </a:solidFill>
                <a:effectLst>
                  <a:outerShdw blurRad="38100" dist="19050" dir="2700000" algn="tl" rotWithShape="0">
                    <a:schemeClr val="dk1">
                      <a:alpha val="40000"/>
                    </a:schemeClr>
                  </a:outerShdw>
                </a:effectLst>
              </a:rPr>
              <a:t> היד</a:t>
            </a:r>
          </a:p>
        </p:txBody>
      </p:sp>
      <p:sp>
        <p:nvSpPr>
          <p:cNvPr id="36" name="מלבן 35">
            <a:extLst>
              <a:ext uri="{FF2B5EF4-FFF2-40B4-BE49-F238E27FC236}">
                <a16:creationId xmlns:a16="http://schemas.microsoft.com/office/drawing/2014/main" id="{55704DB8-BA31-C766-6EB8-CDE6BF9F1BAB}"/>
              </a:ext>
            </a:extLst>
          </p:cNvPr>
          <p:cNvSpPr/>
          <p:nvPr/>
        </p:nvSpPr>
        <p:spPr>
          <a:xfrm>
            <a:off x="19046143" y="34467182"/>
            <a:ext cx="5202093" cy="400110"/>
          </a:xfrm>
          <a:prstGeom prst="rect">
            <a:avLst/>
          </a:prstGeom>
          <a:solidFill>
            <a:srgbClr val="E1D2C1"/>
          </a:solidFill>
        </p:spPr>
        <p:txBody>
          <a:bodyPr wrap="square" lIns="91440" tIns="45720" rIns="91440" bIns="45720">
            <a:spAutoFit/>
          </a:bodyPr>
          <a:lstStyle/>
          <a:p>
            <a:pPr algn="ctr" rtl="1"/>
            <a:r>
              <a:rPr lang="he-IL" sz="2000" b="1" dirty="0">
                <a:ln w="0"/>
                <a:effectLst>
                  <a:outerShdw blurRad="38100" dist="19050" dir="2700000" algn="tl" rotWithShape="0">
                    <a:schemeClr val="dk1">
                      <a:alpha val="40000"/>
                    </a:schemeClr>
                  </a:outerShdw>
                </a:effectLst>
              </a:rPr>
              <a:t>שכבות המודל </a:t>
            </a:r>
            <a:r>
              <a:rPr lang="en-US" sz="2000" b="1" dirty="0">
                <a:ln w="0"/>
                <a:effectLst>
                  <a:outerShdw blurRad="38100" dist="19050" dir="2700000" algn="tl" rotWithShape="0">
                    <a:schemeClr val="dk1">
                      <a:alpha val="40000"/>
                    </a:schemeClr>
                  </a:outerShdw>
                </a:effectLst>
              </a:rPr>
              <a:t>CNN</a:t>
            </a:r>
            <a:r>
              <a:rPr lang="he-IL" sz="2000" b="1" dirty="0">
                <a:ln w="0"/>
                <a:effectLst>
                  <a:outerShdw blurRad="38100" dist="19050" dir="2700000" algn="tl" rotWithShape="0">
                    <a:schemeClr val="dk1">
                      <a:alpha val="40000"/>
                    </a:schemeClr>
                  </a:outerShdw>
                </a:effectLst>
              </a:rPr>
              <a:t> שפותח </a:t>
            </a:r>
            <a:endParaRPr lang="he-IL" sz="2000" b="1" cap="none" spc="0" dirty="0">
              <a:ln w="0"/>
              <a:solidFill>
                <a:schemeClr val="tx1"/>
              </a:solidFill>
              <a:effectLst>
                <a:outerShdw blurRad="38100" dist="19050" dir="2700000" algn="tl" rotWithShape="0">
                  <a:schemeClr val="dk1">
                    <a:alpha val="40000"/>
                  </a:schemeClr>
                </a:outerShdw>
              </a:effectLst>
            </a:endParaRPr>
          </a:p>
        </p:txBody>
      </p:sp>
      <p:sp>
        <p:nvSpPr>
          <p:cNvPr id="37" name="מלבן 36">
            <a:extLst>
              <a:ext uri="{FF2B5EF4-FFF2-40B4-BE49-F238E27FC236}">
                <a16:creationId xmlns:a16="http://schemas.microsoft.com/office/drawing/2014/main" id="{529CE650-98E5-2A21-9A99-F9B76AFE97B0}"/>
              </a:ext>
            </a:extLst>
          </p:cNvPr>
          <p:cNvSpPr/>
          <p:nvPr/>
        </p:nvSpPr>
        <p:spPr>
          <a:xfrm>
            <a:off x="432804" y="29662372"/>
            <a:ext cx="9561043" cy="400110"/>
          </a:xfrm>
          <a:prstGeom prst="rect">
            <a:avLst/>
          </a:prstGeom>
          <a:solidFill>
            <a:srgbClr val="E1D2C1"/>
          </a:solidFill>
        </p:spPr>
        <p:txBody>
          <a:bodyPr wrap="square" lIns="91440" tIns="45720" rIns="91440" bIns="45720">
            <a:spAutoFit/>
          </a:bodyPr>
          <a:lstStyle/>
          <a:p>
            <a:pPr algn="ctr" rtl="1"/>
            <a:r>
              <a:rPr lang="he-IL" sz="2000" b="1" dirty="0">
                <a:ln w="0"/>
                <a:effectLst>
                  <a:outerShdw blurRad="38100" dist="19050" dir="2700000" algn="tl" rotWithShape="0">
                    <a:schemeClr val="dk1">
                      <a:alpha val="40000"/>
                    </a:schemeClr>
                  </a:outerShdw>
                </a:effectLst>
              </a:rPr>
              <a:t>גרף המציג את אימון המודל </a:t>
            </a:r>
            <a:r>
              <a:rPr lang="en-US" sz="2000" b="1" dirty="0">
                <a:ln w="0"/>
                <a:effectLst>
                  <a:outerShdw blurRad="38100" dist="19050" dir="2700000" algn="tl" rotWithShape="0">
                    <a:schemeClr val="dk1">
                      <a:alpha val="40000"/>
                    </a:schemeClr>
                  </a:outerShdw>
                </a:effectLst>
              </a:rPr>
              <a:t>Accuracy </a:t>
            </a:r>
            <a:r>
              <a:rPr lang="he-IL" sz="2000" b="1" dirty="0">
                <a:ln w="0"/>
                <a:effectLst>
                  <a:outerShdw blurRad="38100" dist="19050" dir="2700000" algn="tl" rotWithShape="0">
                    <a:schemeClr val="dk1">
                      <a:alpha val="40000"/>
                    </a:schemeClr>
                  </a:outerShdw>
                </a:effectLst>
              </a:rPr>
              <a:t> ו </a:t>
            </a:r>
            <a:r>
              <a:rPr lang="en-US" sz="2000" b="1" dirty="0">
                <a:ln w="0"/>
                <a:effectLst>
                  <a:outerShdw blurRad="38100" dist="19050" dir="2700000" algn="tl" rotWithShape="0">
                    <a:schemeClr val="dk1">
                      <a:alpha val="40000"/>
                    </a:schemeClr>
                  </a:outerShdw>
                </a:effectLst>
              </a:rPr>
              <a:t>Loss</a:t>
            </a:r>
            <a:r>
              <a:rPr lang="he-IL" sz="2000" b="1" dirty="0">
                <a:ln w="0"/>
                <a:effectLst>
                  <a:outerShdw blurRad="38100" dist="19050" dir="2700000" algn="tl" rotWithShape="0">
                    <a:schemeClr val="dk1">
                      <a:alpha val="40000"/>
                    </a:schemeClr>
                  </a:outerShdw>
                </a:effectLst>
              </a:rPr>
              <a:t> במהלך כל אימון</a:t>
            </a:r>
            <a:endParaRPr lang="he-IL" sz="2000" b="1" cap="none" spc="0" dirty="0">
              <a:ln w="0"/>
              <a:solidFill>
                <a:schemeClr val="tx1"/>
              </a:solidFill>
              <a:effectLst>
                <a:outerShdw blurRad="38100" dist="19050" dir="2700000" algn="tl" rotWithShape="0">
                  <a:schemeClr val="dk1">
                    <a:alpha val="40000"/>
                  </a:schemeClr>
                </a:outerShdw>
              </a:effectLst>
            </a:endParaRPr>
          </a:p>
        </p:txBody>
      </p:sp>
      <p:sp>
        <p:nvSpPr>
          <p:cNvPr id="38" name="מלבן 37">
            <a:extLst>
              <a:ext uri="{FF2B5EF4-FFF2-40B4-BE49-F238E27FC236}">
                <a16:creationId xmlns:a16="http://schemas.microsoft.com/office/drawing/2014/main" id="{52C30F40-E430-5ADD-923F-C12213B34110}"/>
              </a:ext>
            </a:extLst>
          </p:cNvPr>
          <p:cNvSpPr/>
          <p:nvPr/>
        </p:nvSpPr>
        <p:spPr>
          <a:xfrm>
            <a:off x="403831" y="34467182"/>
            <a:ext cx="9561043" cy="400110"/>
          </a:xfrm>
          <a:prstGeom prst="rect">
            <a:avLst/>
          </a:prstGeom>
          <a:solidFill>
            <a:srgbClr val="E1D2C1"/>
          </a:solidFill>
        </p:spPr>
        <p:txBody>
          <a:bodyPr wrap="square" lIns="91440" tIns="45720" rIns="91440" bIns="45720">
            <a:spAutoFit/>
          </a:bodyPr>
          <a:lstStyle/>
          <a:p>
            <a:pPr algn="ctr" rtl="1"/>
            <a:r>
              <a:rPr lang="he-IL" sz="2000" b="1" dirty="0">
                <a:ln w="0"/>
                <a:effectLst>
                  <a:outerShdw blurRad="38100" dist="19050" dir="2700000" algn="tl" rotWithShape="0">
                    <a:schemeClr val="dk1">
                      <a:alpha val="40000"/>
                    </a:schemeClr>
                  </a:outerShdw>
                </a:effectLst>
              </a:rPr>
              <a:t>ייצוג כל אות ומספר כתווית</a:t>
            </a:r>
            <a:endParaRPr lang="he-IL" sz="2000" b="1" cap="none" spc="0" dirty="0">
              <a:ln w="0"/>
              <a:solidFill>
                <a:schemeClr val="tx1"/>
              </a:solidFill>
              <a:effectLst>
                <a:outerShdw blurRad="38100" dist="19050" dir="2700000" algn="tl" rotWithShape="0">
                  <a:schemeClr val="dk1">
                    <a:alpha val="40000"/>
                  </a:schemeClr>
                </a:outerShdw>
              </a:effectLst>
            </a:endParaRPr>
          </a:p>
        </p:txBody>
      </p:sp>
      <p:sp>
        <p:nvSpPr>
          <p:cNvPr id="39" name="מלבן 38">
            <a:extLst>
              <a:ext uri="{FF2B5EF4-FFF2-40B4-BE49-F238E27FC236}">
                <a16:creationId xmlns:a16="http://schemas.microsoft.com/office/drawing/2014/main" id="{32A6B05C-BF59-7884-6FB7-D3F26F6F0899}"/>
              </a:ext>
            </a:extLst>
          </p:cNvPr>
          <p:cNvSpPr/>
          <p:nvPr/>
        </p:nvSpPr>
        <p:spPr>
          <a:xfrm>
            <a:off x="6827617" y="15418970"/>
            <a:ext cx="4335093" cy="400110"/>
          </a:xfrm>
          <a:prstGeom prst="rect">
            <a:avLst/>
          </a:prstGeom>
          <a:solidFill>
            <a:srgbClr val="E1D2C1"/>
          </a:solidFill>
        </p:spPr>
        <p:txBody>
          <a:bodyPr wrap="square" lIns="91440" tIns="45720" rIns="91440" bIns="45720">
            <a:spAutoFit/>
          </a:bodyPr>
          <a:lstStyle/>
          <a:p>
            <a:pPr algn="ctr" rtl="1"/>
            <a:r>
              <a:rPr lang="he-IL" sz="2000" b="1" cap="none" spc="0" dirty="0">
                <a:ln w="0"/>
                <a:solidFill>
                  <a:schemeClr val="tx1"/>
                </a:solidFill>
                <a:effectLst>
                  <a:outerShdw blurRad="38100" dist="19050" dir="2700000" algn="tl" rotWithShape="0">
                    <a:schemeClr val="dk1">
                      <a:alpha val="40000"/>
                    </a:schemeClr>
                  </a:outerShdw>
                </a:effectLst>
              </a:rPr>
              <a:t>שימוש במודל לאימון על האותיות</a:t>
            </a:r>
          </a:p>
        </p:txBody>
      </p:sp>
    </p:spTree>
    <p:extLst>
      <p:ext uri="{BB962C8B-B14F-4D97-AF65-F5344CB8AC3E}">
        <p14:creationId xmlns:p14="http://schemas.microsoft.com/office/powerpoint/2010/main" val="136045819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3133</TotalTime>
  <Words>604</Words>
  <Application>Microsoft Office PowerPoint</Application>
  <PresentationFormat>מותאם אישית</PresentationFormat>
  <Paragraphs>35</Paragraphs>
  <Slides>1</Slides>
  <Notes>1</Notes>
  <HiddenSlides>0</HiddenSlides>
  <MMClips>0</MMClips>
  <ScaleCrop>false</ScaleCrop>
  <HeadingPairs>
    <vt:vector size="6" baseType="variant">
      <vt:variant>
        <vt:lpstr>גופנים בשימוש</vt:lpstr>
      </vt:variant>
      <vt:variant>
        <vt:i4>5</vt:i4>
      </vt:variant>
      <vt:variant>
        <vt:lpstr>ערכת נושא</vt:lpstr>
      </vt:variant>
      <vt:variant>
        <vt:i4>1</vt:i4>
      </vt:variant>
      <vt:variant>
        <vt:lpstr>כותרות שקופיות</vt:lpstr>
      </vt:variant>
      <vt:variant>
        <vt:i4>1</vt:i4>
      </vt:variant>
    </vt:vector>
  </HeadingPairs>
  <TitlesOfParts>
    <vt:vector size="7" baseType="lpstr">
      <vt:lpstr>Aptos</vt:lpstr>
      <vt:lpstr>Arial</vt:lpstr>
      <vt:lpstr>Calibri</vt:lpstr>
      <vt:lpstr>Calibri Light</vt:lpstr>
      <vt:lpstr>Segoe UI</vt:lpstr>
      <vt:lpstr>Office Theme</vt:lpstr>
      <vt:lpstr>מצגת של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Dmitry Patashov</dc:creator>
  <cp:lastModifiedBy>ינון רעאני</cp:lastModifiedBy>
  <cp:revision>49</cp:revision>
  <dcterms:created xsi:type="dcterms:W3CDTF">2019-01-27T10:54:29Z</dcterms:created>
  <dcterms:modified xsi:type="dcterms:W3CDTF">2024-10-29T11:51:07Z</dcterms:modified>
</cp:coreProperties>
</file>